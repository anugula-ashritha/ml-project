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4" d="100"/>
          <a:sy n="74" d="100"/>
        </p:scale>
        <p:origin x="352"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0921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project title and explain that it is a working prototype. Mention that the project combines machine learning, generative AI, RAG, and a full-stack application. Briefly state the main technologies.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enterprise information can be spread across many documents. Manual and keyword-based search can be inefficient for natural-language questions. The goal is therefore to retrieve relevant enterprise knowledge before generating the answer.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objectives in order. The pipeline starts with document upload and ends with a traceable answer. Emphasize that retrieval, generation, and application integration are all part of the project.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RAG workflow from PDF upload to answer and sources. The key point is that relevant enterprise context is retrieved before generation. This reduces dependence on the LLM's general knowledge.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architecture from the user interface through FastAPI to the RAG and ML modules. The RAG pipeline contains the PDF loader, chunker, embedding model, FAISS vector store, and retriever. FastAPI connects the application layer to the ML pipeline.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the technology stack by layer. React is used for the frontend, FastAPI for the backend, and Sentence Transformers plus FAISS for semantic retrieval. PyMuPDF handles document processing and OpenAI is used for LLM generation.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each of the eight pipeline stages. During ingestion, text is extracted and converted into semantic vectors. During a query, the question is compared with document chunks, relevant context is retrieved, and the LLM generates the answer.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role of each ML module. The separation makes the system modular and keeps the backend independent of the internal ML implementation. The ML service provides a clean interface for the backend.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the ingestion process from upload to FAISS indexing. In testing, a sample enterprise policy PDF was successfully processed and produced three chunks. Clarify that this is only a sample test result.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leave-policy question as the example. The question passes through the frontend and FastAPI to the RAG service and semantic search. Retrieved chunks are supplied to the LLM, and the result includes source document and page information.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FastAPI as the application layer. The upload endpoint starts document ingestion, while the chat endpoint starts retrieval and generation. The other endpoints provide document and report-related functionality supported by the backend.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the typical user workflow. The user uploads an enterprise PDF, waits for processing, opens the assistant, asks a question, receives an answer, and views the source document and page. The frontend communicates with FastAPI through API calls.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the actual tests performed by the prototype. Highlight the three-chunk sample, the page-two leave-policy retrieval, multiple-document retrieval, and successful backend upload. Do not present these as an accuracy benchmark.</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the practical advantages of the prototype, then explain its current limitations. The most important current limitation is the in-memory vector store. Future scope includes persistence, security, more formats, evaluation, private LLM options, and scalability.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Conclude by summarizing the end-to-end prototype. Demonstrate the application using the enterprise policy PDF, show the generated answer and its source, then demonstrate retrieval from a second document. Finish with questions and answers.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C1FF6DA9-008F-8B48-92A6-B652298478BF}"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74929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03327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61038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40151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05497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04354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333359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960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98272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70301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98269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C1FF6DA9-008F-8B48-92A6-B652298478BF}"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99970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894361" y="3292704"/>
            <a:ext cx="10972800" cy="523220"/>
          </a:xfrm>
          <a:prstGeom prst="rect">
            <a:avLst/>
          </a:prstGeom>
          <a:noFill/>
        </p:spPr>
        <p:txBody>
          <a:bodyPr wrap="square">
            <a:spAutoFit/>
          </a:bodyPr>
          <a:lstStyle/>
          <a:p>
            <a:pPr algn="l"/>
            <a:r>
              <a:rPr sz="2800" b="1" dirty="0">
                <a:solidFill>
                  <a:schemeClr val="accent3"/>
                </a:solidFill>
                <a:latin typeface="Arial"/>
              </a:rPr>
              <a:t>Enterprise AI Knowledge and Workflow Assistant</a:t>
            </a:r>
          </a:p>
        </p:txBody>
      </p:sp>
      <p:sp>
        <p:nvSpPr>
          <p:cNvPr id="5" name="TextBox 4">
            <a:extLst>
              <a:ext uri="{FF2B5EF4-FFF2-40B4-BE49-F238E27FC236}">
                <a16:creationId xmlns:a16="http://schemas.microsoft.com/office/drawing/2014/main" id="{3CA3E85F-51C3-1C6B-4421-DE0B21385D66}"/>
              </a:ext>
            </a:extLst>
          </p:cNvPr>
          <p:cNvSpPr txBox="1"/>
          <p:nvPr/>
        </p:nvSpPr>
        <p:spPr>
          <a:xfrm>
            <a:off x="1506172" y="2336158"/>
            <a:ext cx="9811685" cy="646331"/>
          </a:xfrm>
          <a:prstGeom prst="rect">
            <a:avLst/>
          </a:prstGeom>
          <a:noFill/>
        </p:spPr>
        <p:txBody>
          <a:bodyPr wrap="square" rtlCol="0">
            <a:spAutoFit/>
          </a:bodyPr>
          <a:lstStyle/>
          <a:p>
            <a:r>
              <a:rPr lang="en-IN" sz="3600" dirty="0">
                <a:latin typeface="Arial" panose="020B0604020202020204" pitchFamily="34" charset="0"/>
                <a:cs typeface="Arial" panose="020B0604020202020204" pitchFamily="34" charset="0"/>
              </a:rPr>
              <a:t>MACHINE LEARNING LAB MINI PROJECT</a:t>
            </a:r>
          </a:p>
        </p:txBody>
      </p:sp>
      <p:sp>
        <p:nvSpPr>
          <p:cNvPr id="6" name="TextBox 5">
            <a:extLst>
              <a:ext uri="{FF2B5EF4-FFF2-40B4-BE49-F238E27FC236}">
                <a16:creationId xmlns:a16="http://schemas.microsoft.com/office/drawing/2014/main" id="{54EC241B-43EB-5132-F849-A992AB09461A}"/>
              </a:ext>
            </a:extLst>
          </p:cNvPr>
          <p:cNvSpPr txBox="1"/>
          <p:nvPr/>
        </p:nvSpPr>
        <p:spPr>
          <a:xfrm>
            <a:off x="8264106" y="4313207"/>
            <a:ext cx="4037163" cy="1908215"/>
          </a:xfrm>
          <a:prstGeom prst="rect">
            <a:avLst/>
          </a:prstGeom>
          <a:noFill/>
        </p:spPr>
        <p:txBody>
          <a:bodyPr wrap="square" rtlCol="0">
            <a:spAutoFit/>
          </a:bodyPr>
          <a:lstStyle/>
          <a:p>
            <a:r>
              <a:rPr lang="en-IN" sz="2000" dirty="0">
                <a:latin typeface="Arial" panose="020B0604020202020204" pitchFamily="34" charset="0"/>
                <a:cs typeface="Arial" panose="020B0604020202020204" pitchFamily="34" charset="0"/>
              </a:rPr>
              <a:t>PRESENTED BY:</a:t>
            </a:r>
          </a:p>
          <a:p>
            <a:r>
              <a:rPr lang="en-IN" sz="2000" dirty="0">
                <a:latin typeface="Arial" panose="020B0604020202020204" pitchFamily="34" charset="0"/>
                <a:cs typeface="Arial" panose="020B0604020202020204" pitchFamily="34" charset="0"/>
              </a:rPr>
              <a:t>A.ASHRITHA – 247R1A6604</a:t>
            </a:r>
          </a:p>
          <a:p>
            <a:r>
              <a:rPr lang="en-IN" sz="2000" dirty="0">
                <a:latin typeface="Arial" panose="020B0604020202020204" pitchFamily="34" charset="0"/>
                <a:cs typeface="Arial" panose="020B0604020202020204" pitchFamily="34" charset="0"/>
              </a:rPr>
              <a:t>A.TEJASWI -247R1A6605</a:t>
            </a:r>
          </a:p>
          <a:p>
            <a:r>
              <a:rPr lang="en-IN" sz="2000" dirty="0">
                <a:latin typeface="Arial" panose="020B0604020202020204" pitchFamily="34" charset="0"/>
                <a:cs typeface="Arial" panose="020B0604020202020204" pitchFamily="34" charset="0"/>
              </a:rPr>
              <a:t>S.SRI CHAEAN – 247R1A6657</a:t>
            </a:r>
          </a:p>
          <a:p>
            <a:endParaRPr lang="en-IN" sz="2000" dirty="0">
              <a:latin typeface="Arial" panose="020B0604020202020204" pitchFamily="34" charset="0"/>
              <a:cs typeface="Arial" panose="020B0604020202020204" pitchFamily="34" charset="0"/>
            </a:endParaRP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0972800" cy="457200"/>
          </a:xfrm>
          <a:prstGeom prst="rect">
            <a:avLst/>
          </a:prstGeom>
          <a:noFill/>
        </p:spPr>
        <p:txBody>
          <a:bodyPr wrap="square">
            <a:spAutoFit/>
          </a:bodyPr>
          <a:lstStyle/>
          <a:p>
            <a:pPr algn="l"/>
            <a:r>
              <a:rPr sz="2800" b="1">
                <a:solidFill>
                  <a:srgbClr val="191919"/>
                </a:solidFill>
                <a:latin typeface="Arial"/>
              </a:rPr>
              <a:t>Problem Statement</a:t>
            </a:r>
          </a:p>
        </p:txBody>
      </p:sp>
      <p:sp>
        <p:nvSpPr>
          <p:cNvPr id="3" name="TextBox 2"/>
          <p:cNvSpPr txBox="1"/>
          <p:nvPr/>
        </p:nvSpPr>
        <p:spPr>
          <a:xfrm>
            <a:off x="548640" y="998076"/>
            <a:ext cx="10789920" cy="5101397"/>
          </a:xfrm>
          <a:prstGeom prst="rect">
            <a:avLst/>
          </a:prstGeom>
          <a:noFill/>
        </p:spPr>
        <p:txBody>
          <a:bodyPr wrap="square">
            <a:spAutoFit/>
          </a:bodyPr>
          <a:lstStyle/>
          <a:p>
            <a:pPr>
              <a:spcAft>
                <a:spcPts val="900"/>
              </a:spcAft>
              <a:defRPr sz="1800">
                <a:solidFill>
                  <a:srgbClr val="191919"/>
                </a:solidFill>
                <a:latin typeface="Arial"/>
              </a:defRPr>
            </a:pPr>
            <a:r>
              <a:rPr sz="2400" dirty="0"/>
              <a:t>• Enterprise information is often distributed across multiple PDF documents and internal knowledge resources.</a:t>
            </a:r>
          </a:p>
          <a:p>
            <a:pPr>
              <a:spcAft>
                <a:spcPts val="900"/>
              </a:spcAft>
              <a:defRPr sz="1800">
                <a:solidFill>
                  <a:srgbClr val="191919"/>
                </a:solidFill>
                <a:latin typeface="Arial"/>
              </a:defRPr>
            </a:pPr>
            <a:r>
              <a:rPr sz="2400" dirty="0"/>
              <a:t>• Employees may spend significant time manually searching through documents.</a:t>
            </a:r>
          </a:p>
          <a:p>
            <a:pPr>
              <a:spcAft>
                <a:spcPts val="900"/>
              </a:spcAft>
              <a:defRPr sz="1800">
                <a:solidFill>
                  <a:srgbClr val="191919"/>
                </a:solidFill>
                <a:latin typeface="Arial"/>
              </a:defRPr>
            </a:pPr>
            <a:r>
              <a:rPr sz="2400" dirty="0"/>
              <a:t>• Traditional keyword-based search may fail to understand the meaning of natural-language questions.</a:t>
            </a:r>
          </a:p>
          <a:p>
            <a:pPr>
              <a:spcAft>
                <a:spcPts val="900"/>
              </a:spcAft>
              <a:defRPr sz="1800">
                <a:solidFill>
                  <a:srgbClr val="191919"/>
                </a:solidFill>
                <a:latin typeface="Arial"/>
              </a:defRPr>
            </a:pPr>
            <a:r>
              <a:rPr sz="2400" dirty="0"/>
              <a:t>• Users need answers that are grounded in the organization's actual documents.</a:t>
            </a:r>
          </a:p>
          <a:p>
            <a:pPr>
              <a:spcAft>
                <a:spcPts val="900"/>
              </a:spcAft>
              <a:defRPr sz="1800">
                <a:solidFill>
                  <a:srgbClr val="191919"/>
                </a:solidFill>
                <a:latin typeface="Arial"/>
              </a:defRPr>
            </a:pPr>
            <a:r>
              <a:rPr sz="2400" dirty="0"/>
              <a:t>• A system is needed that can ingest enterprise PDFs, retrieve relevant information, and provide contextual answers.</a:t>
            </a:r>
          </a:p>
          <a:p>
            <a:pPr>
              <a:spcAft>
                <a:spcPts val="900"/>
              </a:spcAft>
              <a:defRPr sz="1800">
                <a:solidFill>
                  <a:srgbClr val="191919"/>
                </a:solidFill>
                <a:latin typeface="Arial"/>
              </a:defRPr>
            </a:pPr>
            <a:r>
              <a:rPr sz="2400" dirty="0"/>
              <a:t>• Goal: retrieve relevant organizational knowledge before generating an answer.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0972800" cy="457200"/>
          </a:xfrm>
          <a:prstGeom prst="rect">
            <a:avLst/>
          </a:prstGeom>
          <a:noFill/>
        </p:spPr>
        <p:txBody>
          <a:bodyPr wrap="square">
            <a:spAutoFit/>
          </a:bodyPr>
          <a:lstStyle/>
          <a:p>
            <a:pPr algn="l"/>
            <a:r>
              <a:rPr sz="2800" b="1">
                <a:solidFill>
                  <a:srgbClr val="191919"/>
                </a:solidFill>
                <a:latin typeface="Arial"/>
              </a:rPr>
              <a:t>Project Objectives</a:t>
            </a:r>
          </a:p>
        </p:txBody>
      </p:sp>
      <p:sp>
        <p:nvSpPr>
          <p:cNvPr id="3" name="TextBox 2"/>
          <p:cNvSpPr txBox="1"/>
          <p:nvPr/>
        </p:nvSpPr>
        <p:spPr>
          <a:xfrm>
            <a:off x="685800" y="1234440"/>
            <a:ext cx="10881360" cy="3785652"/>
          </a:xfrm>
          <a:prstGeom prst="rect">
            <a:avLst/>
          </a:prstGeom>
          <a:noFill/>
        </p:spPr>
        <p:txBody>
          <a:bodyPr wrap="square">
            <a:spAutoFit/>
          </a:bodyPr>
          <a:lstStyle/>
          <a:p>
            <a:pPr>
              <a:spcAft>
                <a:spcPts val="900"/>
              </a:spcAft>
              <a:defRPr sz="1600">
                <a:solidFill>
                  <a:srgbClr val="191919"/>
                </a:solidFill>
                <a:latin typeface="Arial"/>
              </a:defRPr>
            </a:pPr>
            <a:r>
              <a:rPr sz="2000" dirty="0"/>
              <a:t>• 1. Allow users to upload enterprise PDF documents.</a:t>
            </a:r>
          </a:p>
          <a:p>
            <a:pPr>
              <a:spcAft>
                <a:spcPts val="900"/>
              </a:spcAft>
              <a:defRPr sz="1600">
                <a:solidFill>
                  <a:srgbClr val="191919"/>
                </a:solidFill>
                <a:latin typeface="Arial"/>
              </a:defRPr>
            </a:pPr>
            <a:r>
              <a:rPr sz="2000" dirty="0"/>
              <a:t>• 2. Extract meaningful text from uploaded documents.</a:t>
            </a:r>
          </a:p>
          <a:p>
            <a:pPr>
              <a:spcAft>
                <a:spcPts val="900"/>
              </a:spcAft>
              <a:defRPr sz="1600">
                <a:solidFill>
                  <a:srgbClr val="191919"/>
                </a:solidFill>
                <a:latin typeface="Arial"/>
              </a:defRPr>
            </a:pPr>
            <a:r>
              <a:rPr sz="2000" dirty="0"/>
              <a:t>• 3. Split documents into manageable chunks.</a:t>
            </a:r>
          </a:p>
          <a:p>
            <a:pPr>
              <a:spcAft>
                <a:spcPts val="900"/>
              </a:spcAft>
              <a:defRPr sz="1600">
                <a:solidFill>
                  <a:srgbClr val="191919"/>
                </a:solidFill>
                <a:latin typeface="Arial"/>
              </a:defRPr>
            </a:pPr>
            <a:r>
              <a:rPr sz="2000" dirty="0"/>
              <a:t>• 4. Convert text chunks into semantic vector embeddings.</a:t>
            </a:r>
          </a:p>
          <a:p>
            <a:pPr>
              <a:spcAft>
                <a:spcPts val="900"/>
              </a:spcAft>
              <a:defRPr sz="1600">
                <a:solidFill>
                  <a:srgbClr val="191919"/>
                </a:solidFill>
                <a:latin typeface="Arial"/>
              </a:defRPr>
            </a:pPr>
            <a:r>
              <a:rPr sz="2000" dirty="0"/>
              <a:t>• 5. Store embeddings for efficient similarity search.</a:t>
            </a:r>
          </a:p>
          <a:p>
            <a:pPr>
              <a:spcAft>
                <a:spcPts val="900"/>
              </a:spcAft>
              <a:defRPr sz="1600">
                <a:solidFill>
                  <a:srgbClr val="191919"/>
                </a:solidFill>
                <a:latin typeface="Arial"/>
              </a:defRPr>
            </a:pPr>
            <a:r>
              <a:rPr sz="2000" dirty="0"/>
              <a:t>• 6. Retrieve the most relevant document sections for a user question.</a:t>
            </a:r>
          </a:p>
          <a:p>
            <a:pPr>
              <a:spcAft>
                <a:spcPts val="900"/>
              </a:spcAft>
              <a:defRPr sz="1600">
                <a:solidFill>
                  <a:srgbClr val="191919"/>
                </a:solidFill>
                <a:latin typeface="Arial"/>
              </a:defRPr>
            </a:pPr>
            <a:r>
              <a:rPr sz="2000" dirty="0"/>
              <a:t>• 7. Generate an answer using retrieved context.</a:t>
            </a:r>
          </a:p>
          <a:p>
            <a:pPr>
              <a:spcAft>
                <a:spcPts val="900"/>
              </a:spcAft>
              <a:defRPr sz="1600">
                <a:solidFill>
                  <a:srgbClr val="191919"/>
                </a:solidFill>
                <a:latin typeface="Arial"/>
              </a:defRPr>
            </a:pPr>
            <a:r>
              <a:rPr sz="2000" dirty="0"/>
              <a:t>• 8. Provide document/page sources for traceability.</a:t>
            </a:r>
          </a:p>
          <a:p>
            <a:pPr>
              <a:spcAft>
                <a:spcPts val="900"/>
              </a:spcAft>
              <a:defRPr sz="1600">
                <a:solidFill>
                  <a:srgbClr val="191919"/>
                </a:solidFill>
                <a:latin typeface="Arial"/>
              </a:defRPr>
            </a:pPr>
            <a:r>
              <a:rPr sz="2000" dirty="0"/>
              <a:t>• 9. Integrate the ML/RAG pipeline with a </a:t>
            </a:r>
            <a:r>
              <a:rPr sz="2000" dirty="0" err="1"/>
              <a:t>FastAPI</a:t>
            </a:r>
            <a:r>
              <a:rPr sz="2000" dirty="0"/>
              <a:t> backend and frontend.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0972800" cy="457200"/>
          </a:xfrm>
          <a:prstGeom prst="rect">
            <a:avLst/>
          </a:prstGeom>
          <a:noFill/>
        </p:spPr>
        <p:txBody>
          <a:bodyPr wrap="square">
            <a:spAutoFit/>
          </a:bodyPr>
          <a:lstStyle/>
          <a:p>
            <a:pPr algn="l"/>
            <a:r>
              <a:rPr sz="2800" b="1">
                <a:solidFill>
                  <a:srgbClr val="191919"/>
                </a:solidFill>
                <a:latin typeface="Arial"/>
              </a:rPr>
              <a:t>Proposed Solution</a:t>
            </a:r>
          </a:p>
        </p:txBody>
      </p:sp>
      <p:sp>
        <p:nvSpPr>
          <p:cNvPr id="3" name="TextBox 2"/>
          <p:cNvSpPr txBox="1"/>
          <p:nvPr/>
        </p:nvSpPr>
        <p:spPr>
          <a:xfrm>
            <a:off x="731520" y="1234440"/>
            <a:ext cx="10698480" cy="411480"/>
          </a:xfrm>
          <a:prstGeom prst="rect">
            <a:avLst/>
          </a:prstGeom>
          <a:noFill/>
        </p:spPr>
        <p:txBody>
          <a:bodyPr wrap="square">
            <a:spAutoFit/>
          </a:bodyPr>
          <a:lstStyle/>
          <a:p>
            <a:pPr algn="l"/>
            <a:r>
              <a:rPr sz="1800" b="1">
                <a:solidFill>
                  <a:srgbClr val="191919"/>
                </a:solidFill>
                <a:latin typeface="Arial"/>
              </a:rPr>
              <a:t>The system uses Retrieval-Augmented Generation (RAG).</a:t>
            </a:r>
          </a:p>
        </p:txBody>
      </p:sp>
      <p:sp>
        <p:nvSpPr>
          <p:cNvPr id="4" name="Rectangle 3"/>
          <p:cNvSpPr/>
          <p:nvPr/>
        </p:nvSpPr>
        <p:spPr>
          <a:xfrm>
            <a:off x="293979" y="2743200"/>
            <a:ext cx="114300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39699" y="2926080"/>
            <a:ext cx="1051560" cy="502920"/>
          </a:xfrm>
          <a:prstGeom prst="rect">
            <a:avLst/>
          </a:prstGeom>
          <a:noFill/>
        </p:spPr>
        <p:txBody>
          <a:bodyPr wrap="square">
            <a:spAutoFit/>
          </a:bodyPr>
          <a:lstStyle/>
          <a:p>
            <a:pPr algn="ctr"/>
            <a:r>
              <a:rPr sz="1000" b="1">
                <a:solidFill>
                  <a:srgbClr val="191919"/>
                </a:solidFill>
                <a:latin typeface="Arial"/>
              </a:rPr>
              <a:t>PDF Upload</a:t>
            </a:r>
          </a:p>
        </p:txBody>
      </p:sp>
      <p:cxnSp>
        <p:nvCxnSpPr>
          <p:cNvPr id="6" name="Connector 5"/>
          <p:cNvCxnSpPr/>
          <p:nvPr/>
        </p:nvCxnSpPr>
        <p:spPr>
          <a:xfrm>
            <a:off x="1436979" y="3200400"/>
            <a:ext cx="128016"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1601571" y="2743200"/>
            <a:ext cx="114300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47291" y="2926080"/>
            <a:ext cx="1051560" cy="502920"/>
          </a:xfrm>
          <a:prstGeom prst="rect">
            <a:avLst/>
          </a:prstGeom>
          <a:noFill/>
        </p:spPr>
        <p:txBody>
          <a:bodyPr wrap="square">
            <a:spAutoFit/>
          </a:bodyPr>
          <a:lstStyle/>
          <a:p>
            <a:pPr algn="ctr"/>
            <a:r>
              <a:rPr sz="1000" b="1">
                <a:solidFill>
                  <a:srgbClr val="191919"/>
                </a:solidFill>
                <a:latin typeface="Arial"/>
              </a:rPr>
              <a:t>Text Extraction</a:t>
            </a:r>
          </a:p>
        </p:txBody>
      </p:sp>
      <p:cxnSp>
        <p:nvCxnSpPr>
          <p:cNvPr id="9" name="Connector 8"/>
          <p:cNvCxnSpPr/>
          <p:nvPr/>
        </p:nvCxnSpPr>
        <p:spPr>
          <a:xfrm>
            <a:off x="2744571" y="3200400"/>
            <a:ext cx="128016"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909163" y="2743200"/>
            <a:ext cx="114300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954883" y="2926080"/>
            <a:ext cx="1051560" cy="502920"/>
          </a:xfrm>
          <a:prstGeom prst="rect">
            <a:avLst/>
          </a:prstGeom>
          <a:noFill/>
        </p:spPr>
        <p:txBody>
          <a:bodyPr wrap="square">
            <a:spAutoFit/>
          </a:bodyPr>
          <a:lstStyle/>
          <a:p>
            <a:pPr algn="ctr"/>
            <a:r>
              <a:rPr sz="1000" b="1">
                <a:solidFill>
                  <a:srgbClr val="191919"/>
                </a:solidFill>
                <a:latin typeface="Arial"/>
              </a:rPr>
              <a:t>Document Chunking</a:t>
            </a:r>
          </a:p>
        </p:txBody>
      </p:sp>
      <p:cxnSp>
        <p:nvCxnSpPr>
          <p:cNvPr id="12" name="Connector 11"/>
          <p:cNvCxnSpPr/>
          <p:nvPr/>
        </p:nvCxnSpPr>
        <p:spPr>
          <a:xfrm>
            <a:off x="4052163" y="3200400"/>
            <a:ext cx="128016"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216755" y="2743200"/>
            <a:ext cx="114300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62475" y="2926080"/>
            <a:ext cx="1051560" cy="502920"/>
          </a:xfrm>
          <a:prstGeom prst="rect">
            <a:avLst/>
          </a:prstGeom>
          <a:noFill/>
        </p:spPr>
        <p:txBody>
          <a:bodyPr wrap="square">
            <a:spAutoFit/>
          </a:bodyPr>
          <a:lstStyle/>
          <a:p>
            <a:pPr algn="ctr"/>
            <a:r>
              <a:rPr sz="1000" b="1">
                <a:solidFill>
                  <a:srgbClr val="191919"/>
                </a:solidFill>
                <a:latin typeface="Arial"/>
              </a:rPr>
              <a:t>Embedding Generation</a:t>
            </a:r>
          </a:p>
        </p:txBody>
      </p:sp>
      <p:cxnSp>
        <p:nvCxnSpPr>
          <p:cNvPr id="15" name="Connector 14"/>
          <p:cNvCxnSpPr/>
          <p:nvPr/>
        </p:nvCxnSpPr>
        <p:spPr>
          <a:xfrm>
            <a:off x="5359755" y="3200400"/>
            <a:ext cx="128016"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5524347" y="2743200"/>
            <a:ext cx="114300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570067" y="2926080"/>
            <a:ext cx="1051560" cy="502920"/>
          </a:xfrm>
          <a:prstGeom prst="rect">
            <a:avLst/>
          </a:prstGeom>
          <a:noFill/>
        </p:spPr>
        <p:txBody>
          <a:bodyPr wrap="square">
            <a:spAutoFit/>
          </a:bodyPr>
          <a:lstStyle/>
          <a:p>
            <a:pPr algn="ctr"/>
            <a:r>
              <a:rPr sz="1000" b="1">
                <a:solidFill>
                  <a:srgbClr val="191919"/>
                </a:solidFill>
                <a:latin typeface="Arial"/>
              </a:rPr>
              <a:t>FAISS Vector Store</a:t>
            </a:r>
          </a:p>
        </p:txBody>
      </p:sp>
      <p:cxnSp>
        <p:nvCxnSpPr>
          <p:cNvPr id="18" name="Connector 17"/>
          <p:cNvCxnSpPr/>
          <p:nvPr/>
        </p:nvCxnSpPr>
        <p:spPr>
          <a:xfrm>
            <a:off x="6667347" y="3200400"/>
            <a:ext cx="128016"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831939" y="2743200"/>
            <a:ext cx="114300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77659" y="2926080"/>
            <a:ext cx="1051560" cy="502920"/>
          </a:xfrm>
          <a:prstGeom prst="rect">
            <a:avLst/>
          </a:prstGeom>
          <a:noFill/>
        </p:spPr>
        <p:txBody>
          <a:bodyPr wrap="square">
            <a:spAutoFit/>
          </a:bodyPr>
          <a:lstStyle/>
          <a:p>
            <a:pPr algn="ctr"/>
            <a:r>
              <a:rPr sz="1000" b="1">
                <a:solidFill>
                  <a:srgbClr val="191919"/>
                </a:solidFill>
                <a:latin typeface="Arial"/>
              </a:rPr>
              <a:t>Semantic Retrieval</a:t>
            </a:r>
          </a:p>
        </p:txBody>
      </p:sp>
      <p:cxnSp>
        <p:nvCxnSpPr>
          <p:cNvPr id="21" name="Connector 20"/>
          <p:cNvCxnSpPr/>
          <p:nvPr/>
        </p:nvCxnSpPr>
        <p:spPr>
          <a:xfrm>
            <a:off x="7974939" y="3200400"/>
            <a:ext cx="128016"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8139531" y="2743200"/>
            <a:ext cx="114300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85251" y="2926080"/>
            <a:ext cx="1051560" cy="502920"/>
          </a:xfrm>
          <a:prstGeom prst="rect">
            <a:avLst/>
          </a:prstGeom>
          <a:noFill/>
        </p:spPr>
        <p:txBody>
          <a:bodyPr wrap="square">
            <a:spAutoFit/>
          </a:bodyPr>
          <a:lstStyle/>
          <a:p>
            <a:pPr algn="ctr"/>
            <a:r>
              <a:rPr sz="1000" b="1">
                <a:solidFill>
                  <a:srgbClr val="191919"/>
                </a:solidFill>
                <a:latin typeface="Arial"/>
              </a:rPr>
              <a:t>Relevant Context</a:t>
            </a:r>
          </a:p>
        </p:txBody>
      </p:sp>
      <p:cxnSp>
        <p:nvCxnSpPr>
          <p:cNvPr id="24" name="Connector 23"/>
          <p:cNvCxnSpPr/>
          <p:nvPr/>
        </p:nvCxnSpPr>
        <p:spPr>
          <a:xfrm>
            <a:off x="9282531" y="3200400"/>
            <a:ext cx="128016"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9447123" y="2743200"/>
            <a:ext cx="114300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492843" y="2926080"/>
            <a:ext cx="1051560" cy="502920"/>
          </a:xfrm>
          <a:prstGeom prst="rect">
            <a:avLst/>
          </a:prstGeom>
          <a:noFill/>
        </p:spPr>
        <p:txBody>
          <a:bodyPr wrap="square">
            <a:spAutoFit/>
          </a:bodyPr>
          <a:lstStyle/>
          <a:p>
            <a:pPr algn="ctr"/>
            <a:r>
              <a:rPr sz="1000" b="1">
                <a:solidFill>
                  <a:srgbClr val="191919"/>
                </a:solidFill>
                <a:latin typeface="Arial"/>
              </a:rPr>
              <a:t>LLM</a:t>
            </a:r>
          </a:p>
        </p:txBody>
      </p:sp>
      <p:cxnSp>
        <p:nvCxnSpPr>
          <p:cNvPr id="27" name="Connector 26"/>
          <p:cNvCxnSpPr/>
          <p:nvPr/>
        </p:nvCxnSpPr>
        <p:spPr>
          <a:xfrm>
            <a:off x="10590123" y="3200400"/>
            <a:ext cx="128016"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0754715" y="2743200"/>
            <a:ext cx="114300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800435" y="2926080"/>
            <a:ext cx="1051560" cy="502920"/>
          </a:xfrm>
          <a:prstGeom prst="rect">
            <a:avLst/>
          </a:prstGeom>
          <a:noFill/>
        </p:spPr>
        <p:txBody>
          <a:bodyPr wrap="square">
            <a:spAutoFit/>
          </a:bodyPr>
          <a:lstStyle/>
          <a:p>
            <a:pPr algn="ctr"/>
            <a:r>
              <a:rPr sz="1000" b="1">
                <a:solidFill>
                  <a:srgbClr val="191919"/>
                </a:solidFill>
                <a:latin typeface="Arial"/>
              </a:rPr>
              <a:t>Answer + Sources</a:t>
            </a:r>
          </a:p>
        </p:txBody>
      </p:sp>
      <p:sp>
        <p:nvSpPr>
          <p:cNvPr id="30" name="TextBox 29"/>
          <p:cNvSpPr txBox="1"/>
          <p:nvPr/>
        </p:nvSpPr>
        <p:spPr>
          <a:xfrm>
            <a:off x="731520" y="4400937"/>
            <a:ext cx="10332720" cy="707886"/>
          </a:xfrm>
          <a:prstGeom prst="rect">
            <a:avLst/>
          </a:prstGeom>
          <a:noFill/>
        </p:spPr>
        <p:txBody>
          <a:bodyPr wrap="square">
            <a:spAutoFit/>
          </a:bodyPr>
          <a:lstStyle/>
          <a:p>
            <a:pPr algn="ctr"/>
            <a:r>
              <a:rPr sz="2000" b="0" dirty="0">
                <a:solidFill>
                  <a:srgbClr val="5A5A5A"/>
                </a:solidFill>
                <a:latin typeface="Arial"/>
              </a:rPr>
              <a:t>RAG provides retrieved enterprise document context to the LLM instead of relying only on general knowledge.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0972800" cy="457200"/>
          </a:xfrm>
          <a:prstGeom prst="rect">
            <a:avLst/>
          </a:prstGeom>
          <a:noFill/>
        </p:spPr>
        <p:txBody>
          <a:bodyPr wrap="square">
            <a:spAutoFit/>
          </a:bodyPr>
          <a:lstStyle/>
          <a:p>
            <a:pPr algn="l"/>
            <a:r>
              <a:rPr sz="2800" b="1">
                <a:solidFill>
                  <a:srgbClr val="191919"/>
                </a:solidFill>
                <a:latin typeface="Arial"/>
              </a:rPr>
              <a:t>System Architecture</a:t>
            </a:r>
          </a:p>
        </p:txBody>
      </p:sp>
      <p:sp>
        <p:nvSpPr>
          <p:cNvPr id="3" name="Rectangle 2"/>
          <p:cNvSpPr/>
          <p:nvPr/>
        </p:nvSpPr>
        <p:spPr>
          <a:xfrm>
            <a:off x="961491" y="2011680"/>
            <a:ext cx="132588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7211" y="2194560"/>
            <a:ext cx="1234439" cy="502920"/>
          </a:xfrm>
          <a:prstGeom prst="rect">
            <a:avLst/>
          </a:prstGeom>
          <a:noFill/>
        </p:spPr>
        <p:txBody>
          <a:bodyPr wrap="square">
            <a:spAutoFit/>
          </a:bodyPr>
          <a:lstStyle/>
          <a:p>
            <a:pPr algn="ctr"/>
            <a:r>
              <a:rPr sz="1000" b="1">
                <a:solidFill>
                  <a:srgbClr val="191919"/>
                </a:solidFill>
                <a:latin typeface="Arial"/>
              </a:rPr>
              <a:t>USER</a:t>
            </a:r>
          </a:p>
        </p:txBody>
      </p:sp>
      <p:cxnSp>
        <p:nvCxnSpPr>
          <p:cNvPr id="5" name="Connector 4"/>
          <p:cNvCxnSpPr/>
          <p:nvPr/>
        </p:nvCxnSpPr>
        <p:spPr>
          <a:xfrm>
            <a:off x="2287371" y="2468880"/>
            <a:ext cx="128016"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2451963" y="2011680"/>
            <a:ext cx="132588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497683" y="2194560"/>
            <a:ext cx="1234439" cy="502920"/>
          </a:xfrm>
          <a:prstGeom prst="rect">
            <a:avLst/>
          </a:prstGeom>
          <a:noFill/>
        </p:spPr>
        <p:txBody>
          <a:bodyPr wrap="square">
            <a:spAutoFit/>
          </a:bodyPr>
          <a:lstStyle/>
          <a:p>
            <a:pPr algn="ctr"/>
            <a:r>
              <a:rPr sz="1000" b="1">
                <a:solidFill>
                  <a:srgbClr val="191919"/>
                </a:solidFill>
                <a:latin typeface="Arial"/>
              </a:rPr>
              <a:t>REACT
FRONTEND</a:t>
            </a:r>
          </a:p>
        </p:txBody>
      </p:sp>
      <p:cxnSp>
        <p:nvCxnSpPr>
          <p:cNvPr id="8" name="Connector 7"/>
          <p:cNvCxnSpPr/>
          <p:nvPr/>
        </p:nvCxnSpPr>
        <p:spPr>
          <a:xfrm>
            <a:off x="3777843" y="2468880"/>
            <a:ext cx="128016"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942435" y="2011680"/>
            <a:ext cx="132588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88155" y="2194560"/>
            <a:ext cx="1234439" cy="502920"/>
          </a:xfrm>
          <a:prstGeom prst="rect">
            <a:avLst/>
          </a:prstGeom>
          <a:noFill/>
        </p:spPr>
        <p:txBody>
          <a:bodyPr wrap="square">
            <a:spAutoFit/>
          </a:bodyPr>
          <a:lstStyle/>
          <a:p>
            <a:pPr algn="ctr"/>
            <a:r>
              <a:rPr sz="1000" b="1">
                <a:solidFill>
                  <a:srgbClr val="191919"/>
                </a:solidFill>
                <a:latin typeface="Arial"/>
              </a:rPr>
              <a:t>FASTAPI
BACKEND</a:t>
            </a:r>
          </a:p>
        </p:txBody>
      </p:sp>
      <p:cxnSp>
        <p:nvCxnSpPr>
          <p:cNvPr id="11" name="Connector 10"/>
          <p:cNvCxnSpPr/>
          <p:nvPr/>
        </p:nvCxnSpPr>
        <p:spPr>
          <a:xfrm>
            <a:off x="5268315" y="2468880"/>
            <a:ext cx="128016"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432907" y="2011680"/>
            <a:ext cx="132588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78627" y="2194560"/>
            <a:ext cx="1234439" cy="502920"/>
          </a:xfrm>
          <a:prstGeom prst="rect">
            <a:avLst/>
          </a:prstGeom>
          <a:noFill/>
        </p:spPr>
        <p:txBody>
          <a:bodyPr wrap="square">
            <a:spAutoFit/>
          </a:bodyPr>
          <a:lstStyle/>
          <a:p>
            <a:pPr algn="ctr"/>
            <a:r>
              <a:rPr sz="1000" b="1">
                <a:solidFill>
                  <a:srgbClr val="191919"/>
                </a:solidFill>
                <a:latin typeface="Arial"/>
              </a:rPr>
              <a:t>RAG / ML
SERVICE</a:t>
            </a:r>
          </a:p>
        </p:txBody>
      </p:sp>
      <p:cxnSp>
        <p:nvCxnSpPr>
          <p:cNvPr id="14" name="Connector 13"/>
          <p:cNvCxnSpPr/>
          <p:nvPr/>
        </p:nvCxnSpPr>
        <p:spPr>
          <a:xfrm>
            <a:off x="6758787" y="2468880"/>
            <a:ext cx="128016"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923379" y="2011680"/>
            <a:ext cx="132588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69099" y="2194560"/>
            <a:ext cx="1234439" cy="502920"/>
          </a:xfrm>
          <a:prstGeom prst="rect">
            <a:avLst/>
          </a:prstGeom>
          <a:noFill/>
        </p:spPr>
        <p:txBody>
          <a:bodyPr wrap="square">
            <a:spAutoFit/>
          </a:bodyPr>
          <a:lstStyle/>
          <a:p>
            <a:pPr algn="ctr"/>
            <a:r>
              <a:rPr sz="1000" b="1">
                <a:solidFill>
                  <a:srgbClr val="191919"/>
                </a:solidFill>
                <a:latin typeface="Arial"/>
              </a:rPr>
              <a:t>RAG PIPELINE</a:t>
            </a:r>
          </a:p>
        </p:txBody>
      </p:sp>
      <p:cxnSp>
        <p:nvCxnSpPr>
          <p:cNvPr id="17" name="Connector 16"/>
          <p:cNvCxnSpPr/>
          <p:nvPr/>
        </p:nvCxnSpPr>
        <p:spPr>
          <a:xfrm>
            <a:off x="8249259" y="2468880"/>
            <a:ext cx="128016"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8413851" y="2011680"/>
            <a:ext cx="132588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59571" y="2194560"/>
            <a:ext cx="1234439" cy="502920"/>
          </a:xfrm>
          <a:prstGeom prst="rect">
            <a:avLst/>
          </a:prstGeom>
          <a:noFill/>
        </p:spPr>
        <p:txBody>
          <a:bodyPr wrap="square">
            <a:spAutoFit/>
          </a:bodyPr>
          <a:lstStyle/>
          <a:p>
            <a:pPr algn="ctr"/>
            <a:r>
              <a:rPr sz="1000" b="1">
                <a:solidFill>
                  <a:srgbClr val="191919"/>
                </a:solidFill>
                <a:latin typeface="Arial"/>
              </a:rPr>
              <a:t>LLM</a:t>
            </a:r>
          </a:p>
        </p:txBody>
      </p:sp>
      <p:cxnSp>
        <p:nvCxnSpPr>
          <p:cNvPr id="20" name="Connector 19"/>
          <p:cNvCxnSpPr/>
          <p:nvPr/>
        </p:nvCxnSpPr>
        <p:spPr>
          <a:xfrm>
            <a:off x="9739731" y="2468880"/>
            <a:ext cx="128016"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9904323" y="2011680"/>
            <a:ext cx="132588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950043" y="2194560"/>
            <a:ext cx="1234439" cy="502920"/>
          </a:xfrm>
          <a:prstGeom prst="rect">
            <a:avLst/>
          </a:prstGeom>
          <a:noFill/>
        </p:spPr>
        <p:txBody>
          <a:bodyPr wrap="square">
            <a:spAutoFit/>
          </a:bodyPr>
          <a:lstStyle/>
          <a:p>
            <a:pPr algn="ctr"/>
            <a:r>
              <a:rPr sz="1000" b="1">
                <a:solidFill>
                  <a:srgbClr val="191919"/>
                </a:solidFill>
                <a:latin typeface="Arial"/>
              </a:rPr>
              <a:t>ANSWER +
CITATIONS</a:t>
            </a:r>
          </a:p>
        </p:txBody>
      </p:sp>
      <p:sp>
        <p:nvSpPr>
          <p:cNvPr id="23" name="TextBox 22"/>
          <p:cNvSpPr txBox="1"/>
          <p:nvPr/>
        </p:nvSpPr>
        <p:spPr>
          <a:xfrm>
            <a:off x="822960" y="3886200"/>
            <a:ext cx="10515600" cy="1246495"/>
          </a:xfrm>
          <a:prstGeom prst="rect">
            <a:avLst/>
          </a:prstGeom>
          <a:noFill/>
        </p:spPr>
        <p:txBody>
          <a:bodyPr wrap="square">
            <a:spAutoFit/>
          </a:bodyPr>
          <a:lstStyle/>
          <a:p>
            <a:pPr>
              <a:spcAft>
                <a:spcPts val="900"/>
              </a:spcAft>
              <a:defRPr sz="1700">
                <a:solidFill>
                  <a:srgbClr val="191919"/>
                </a:solidFill>
                <a:latin typeface="Arial"/>
              </a:defRPr>
            </a:pPr>
            <a:r>
              <a:rPr sz="2000" dirty="0"/>
              <a:t>• PDF Loader → </a:t>
            </a:r>
            <a:r>
              <a:rPr sz="2000" dirty="0" err="1"/>
              <a:t>Chunker</a:t>
            </a:r>
            <a:r>
              <a:rPr sz="2000" dirty="0"/>
              <a:t> → Embedding Model → FAISS Vector Store → Retriever</a:t>
            </a:r>
          </a:p>
          <a:p>
            <a:pPr>
              <a:spcAft>
                <a:spcPts val="900"/>
              </a:spcAft>
              <a:defRPr sz="1700">
                <a:solidFill>
                  <a:srgbClr val="191919"/>
                </a:solidFill>
                <a:latin typeface="Arial"/>
              </a:defRPr>
            </a:pPr>
            <a:r>
              <a:rPr sz="2000" dirty="0"/>
              <a:t>• Retrieved Context → LLM → Answer + Citations</a:t>
            </a:r>
          </a:p>
          <a:p>
            <a:pPr>
              <a:spcAft>
                <a:spcPts val="900"/>
              </a:spcAft>
              <a:defRPr sz="1700">
                <a:solidFill>
                  <a:srgbClr val="191919"/>
                </a:solidFill>
                <a:latin typeface="Arial"/>
              </a:defRPr>
            </a:pPr>
            <a:r>
              <a:rPr sz="2000" dirty="0"/>
              <a:t>• Backend acts as the integration layer between the frontend and ML/RAG modules.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0972800" cy="457200"/>
          </a:xfrm>
          <a:prstGeom prst="rect">
            <a:avLst/>
          </a:prstGeom>
          <a:noFill/>
        </p:spPr>
        <p:txBody>
          <a:bodyPr wrap="square">
            <a:spAutoFit/>
          </a:bodyPr>
          <a:lstStyle/>
          <a:p>
            <a:pPr algn="l"/>
            <a:r>
              <a:rPr sz="2800" b="1">
                <a:solidFill>
                  <a:srgbClr val="191919"/>
                </a:solidFill>
                <a:latin typeface="Arial"/>
              </a:rPr>
              <a:t>Technology Stack</a:t>
            </a:r>
          </a:p>
        </p:txBody>
      </p:sp>
      <p:sp>
        <p:nvSpPr>
          <p:cNvPr id="3" name="TextBox 2"/>
          <p:cNvSpPr txBox="1"/>
          <p:nvPr/>
        </p:nvSpPr>
        <p:spPr>
          <a:xfrm>
            <a:off x="731520" y="1325880"/>
            <a:ext cx="10789920" cy="2823850"/>
          </a:xfrm>
          <a:prstGeom prst="rect">
            <a:avLst/>
          </a:prstGeom>
          <a:noFill/>
        </p:spPr>
        <p:txBody>
          <a:bodyPr wrap="square">
            <a:spAutoFit/>
          </a:bodyPr>
          <a:lstStyle/>
          <a:p>
            <a:pPr>
              <a:spcAft>
                <a:spcPts val="900"/>
              </a:spcAft>
              <a:defRPr sz="1800">
                <a:solidFill>
                  <a:srgbClr val="191919"/>
                </a:solidFill>
                <a:latin typeface="Arial"/>
              </a:defRPr>
            </a:pPr>
            <a:r>
              <a:rPr sz="2000" dirty="0"/>
              <a:t>• Frontend → React, TypeScript, Vite</a:t>
            </a:r>
          </a:p>
          <a:p>
            <a:pPr>
              <a:spcAft>
                <a:spcPts val="900"/>
              </a:spcAft>
              <a:defRPr sz="1800">
                <a:solidFill>
                  <a:srgbClr val="191919"/>
                </a:solidFill>
                <a:latin typeface="Arial"/>
              </a:defRPr>
            </a:pPr>
            <a:r>
              <a:rPr sz="2000" dirty="0"/>
              <a:t>• Backend → Python, </a:t>
            </a:r>
            <a:r>
              <a:rPr sz="2000" dirty="0" err="1"/>
              <a:t>FastAPI</a:t>
            </a:r>
            <a:r>
              <a:rPr sz="2000" dirty="0"/>
              <a:t>, </a:t>
            </a:r>
            <a:r>
              <a:rPr sz="2000" dirty="0" err="1"/>
              <a:t>Pydantic</a:t>
            </a:r>
            <a:endParaRPr sz="2000" dirty="0"/>
          </a:p>
          <a:p>
            <a:pPr>
              <a:spcAft>
                <a:spcPts val="900"/>
              </a:spcAft>
              <a:defRPr sz="1800">
                <a:solidFill>
                  <a:srgbClr val="191919"/>
                </a:solidFill>
                <a:latin typeface="Arial"/>
              </a:defRPr>
            </a:pPr>
            <a:r>
              <a:rPr sz="2000" dirty="0"/>
              <a:t>• Machine Learning / NLP → Sentence Transformers, Semantic embeddings, FAISS, Retrieval-Augmented Generation</a:t>
            </a:r>
          </a:p>
          <a:p>
            <a:pPr>
              <a:spcAft>
                <a:spcPts val="900"/>
              </a:spcAft>
              <a:defRPr sz="1800">
                <a:solidFill>
                  <a:srgbClr val="191919"/>
                </a:solidFill>
                <a:latin typeface="Arial"/>
              </a:defRPr>
            </a:pPr>
            <a:r>
              <a:rPr sz="2000" dirty="0"/>
              <a:t>• LLM → OpenAI API</a:t>
            </a:r>
          </a:p>
          <a:p>
            <a:pPr>
              <a:spcAft>
                <a:spcPts val="900"/>
              </a:spcAft>
              <a:defRPr sz="1800">
                <a:solidFill>
                  <a:srgbClr val="191919"/>
                </a:solidFill>
                <a:latin typeface="Arial"/>
              </a:defRPr>
            </a:pPr>
            <a:r>
              <a:rPr sz="2000" dirty="0"/>
              <a:t>• Document Processing → </a:t>
            </a:r>
            <a:r>
              <a:rPr sz="2000" dirty="0" err="1"/>
              <a:t>PyMuPDF</a:t>
            </a:r>
            <a:endParaRPr sz="2000" dirty="0"/>
          </a:p>
          <a:p>
            <a:pPr>
              <a:spcAft>
                <a:spcPts val="900"/>
              </a:spcAft>
              <a:defRPr sz="1800">
                <a:solidFill>
                  <a:srgbClr val="191919"/>
                </a:solidFill>
                <a:latin typeface="Arial"/>
              </a:defRPr>
            </a:pPr>
            <a:r>
              <a:rPr sz="2000" dirty="0"/>
              <a:t>• Development → Git, GitHub, Python virtual environment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0972800" cy="457200"/>
          </a:xfrm>
          <a:prstGeom prst="rect">
            <a:avLst/>
          </a:prstGeom>
          <a:noFill/>
        </p:spPr>
        <p:txBody>
          <a:bodyPr wrap="square">
            <a:spAutoFit/>
          </a:bodyPr>
          <a:lstStyle/>
          <a:p>
            <a:pPr algn="l"/>
            <a:r>
              <a:rPr sz="2800" b="1">
                <a:solidFill>
                  <a:srgbClr val="191919"/>
                </a:solidFill>
                <a:latin typeface="Arial"/>
              </a:rPr>
              <a:t>Retrieval-Augmented Generation Pipeline</a:t>
            </a:r>
          </a:p>
        </p:txBody>
      </p:sp>
      <p:sp>
        <p:nvSpPr>
          <p:cNvPr id="3" name="Rectangle 2"/>
          <p:cNvSpPr/>
          <p:nvPr/>
        </p:nvSpPr>
        <p:spPr>
          <a:xfrm>
            <a:off x="883767" y="1828800"/>
            <a:ext cx="114300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29487" y="2011680"/>
            <a:ext cx="1051560" cy="502920"/>
          </a:xfrm>
          <a:prstGeom prst="rect">
            <a:avLst/>
          </a:prstGeom>
          <a:noFill/>
        </p:spPr>
        <p:txBody>
          <a:bodyPr wrap="square">
            <a:spAutoFit/>
          </a:bodyPr>
          <a:lstStyle/>
          <a:p>
            <a:pPr algn="ctr"/>
            <a:r>
              <a:rPr sz="1100" b="1">
                <a:solidFill>
                  <a:srgbClr val="191919"/>
                </a:solidFill>
                <a:latin typeface="Arial"/>
              </a:rPr>
              <a:t>1 PDF
Ingestion</a:t>
            </a:r>
          </a:p>
        </p:txBody>
      </p:sp>
      <p:cxnSp>
        <p:nvCxnSpPr>
          <p:cNvPr id="5" name="Connector 4"/>
          <p:cNvCxnSpPr/>
          <p:nvPr/>
        </p:nvCxnSpPr>
        <p:spPr>
          <a:xfrm>
            <a:off x="2026767" y="2286000"/>
            <a:ext cx="146304"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2209647" y="1828800"/>
            <a:ext cx="114300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55367" y="2011680"/>
            <a:ext cx="1051560" cy="502920"/>
          </a:xfrm>
          <a:prstGeom prst="rect">
            <a:avLst/>
          </a:prstGeom>
          <a:noFill/>
        </p:spPr>
        <p:txBody>
          <a:bodyPr wrap="square">
            <a:spAutoFit/>
          </a:bodyPr>
          <a:lstStyle/>
          <a:p>
            <a:pPr algn="ctr"/>
            <a:r>
              <a:rPr sz="1100" b="1">
                <a:solidFill>
                  <a:srgbClr val="191919"/>
                </a:solidFill>
                <a:latin typeface="Arial"/>
              </a:rPr>
              <a:t>2 Text
Extraction</a:t>
            </a:r>
          </a:p>
        </p:txBody>
      </p:sp>
      <p:cxnSp>
        <p:nvCxnSpPr>
          <p:cNvPr id="8" name="Connector 7"/>
          <p:cNvCxnSpPr/>
          <p:nvPr/>
        </p:nvCxnSpPr>
        <p:spPr>
          <a:xfrm>
            <a:off x="3352647" y="2286000"/>
            <a:ext cx="146304"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535527" y="1828800"/>
            <a:ext cx="114300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81247" y="2011680"/>
            <a:ext cx="1051560" cy="502920"/>
          </a:xfrm>
          <a:prstGeom prst="rect">
            <a:avLst/>
          </a:prstGeom>
          <a:noFill/>
        </p:spPr>
        <p:txBody>
          <a:bodyPr wrap="square">
            <a:spAutoFit/>
          </a:bodyPr>
          <a:lstStyle/>
          <a:p>
            <a:pPr algn="ctr"/>
            <a:r>
              <a:rPr sz="1100" b="1">
                <a:solidFill>
                  <a:srgbClr val="191919"/>
                </a:solidFill>
                <a:latin typeface="Arial"/>
              </a:rPr>
              <a:t>3 Chunking</a:t>
            </a:r>
          </a:p>
        </p:txBody>
      </p:sp>
      <p:cxnSp>
        <p:nvCxnSpPr>
          <p:cNvPr id="11" name="Connector 10"/>
          <p:cNvCxnSpPr/>
          <p:nvPr/>
        </p:nvCxnSpPr>
        <p:spPr>
          <a:xfrm>
            <a:off x="4678527" y="2286000"/>
            <a:ext cx="146304"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4861407" y="1828800"/>
            <a:ext cx="114300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907127" y="2011680"/>
            <a:ext cx="1051560" cy="502920"/>
          </a:xfrm>
          <a:prstGeom prst="rect">
            <a:avLst/>
          </a:prstGeom>
          <a:noFill/>
        </p:spPr>
        <p:txBody>
          <a:bodyPr wrap="square">
            <a:spAutoFit/>
          </a:bodyPr>
          <a:lstStyle/>
          <a:p>
            <a:pPr algn="ctr"/>
            <a:r>
              <a:rPr sz="1100" b="1">
                <a:solidFill>
                  <a:srgbClr val="191919"/>
                </a:solidFill>
                <a:latin typeface="Arial"/>
              </a:rPr>
              <a:t>4 Embedding</a:t>
            </a:r>
          </a:p>
        </p:txBody>
      </p:sp>
      <p:cxnSp>
        <p:nvCxnSpPr>
          <p:cNvPr id="14" name="Connector 13"/>
          <p:cNvCxnSpPr/>
          <p:nvPr/>
        </p:nvCxnSpPr>
        <p:spPr>
          <a:xfrm>
            <a:off x="6004407" y="2286000"/>
            <a:ext cx="146304"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187287" y="1828800"/>
            <a:ext cx="114300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33007" y="2011680"/>
            <a:ext cx="1051560" cy="502920"/>
          </a:xfrm>
          <a:prstGeom prst="rect">
            <a:avLst/>
          </a:prstGeom>
          <a:noFill/>
        </p:spPr>
        <p:txBody>
          <a:bodyPr wrap="square">
            <a:spAutoFit/>
          </a:bodyPr>
          <a:lstStyle/>
          <a:p>
            <a:pPr algn="ctr"/>
            <a:r>
              <a:rPr sz="1100" b="1">
                <a:solidFill>
                  <a:srgbClr val="191919"/>
                </a:solidFill>
                <a:latin typeface="Arial"/>
              </a:rPr>
              <a:t>5 Vector
Storage</a:t>
            </a:r>
          </a:p>
        </p:txBody>
      </p:sp>
      <p:cxnSp>
        <p:nvCxnSpPr>
          <p:cNvPr id="17" name="Connector 16"/>
          <p:cNvCxnSpPr/>
          <p:nvPr/>
        </p:nvCxnSpPr>
        <p:spPr>
          <a:xfrm>
            <a:off x="7330287" y="2286000"/>
            <a:ext cx="146304"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513167" y="1828800"/>
            <a:ext cx="114300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558887" y="2011680"/>
            <a:ext cx="1051560" cy="502920"/>
          </a:xfrm>
          <a:prstGeom prst="rect">
            <a:avLst/>
          </a:prstGeom>
          <a:noFill/>
        </p:spPr>
        <p:txBody>
          <a:bodyPr wrap="square">
            <a:spAutoFit/>
          </a:bodyPr>
          <a:lstStyle/>
          <a:p>
            <a:pPr algn="ctr"/>
            <a:r>
              <a:rPr sz="1100" b="1">
                <a:solidFill>
                  <a:srgbClr val="191919"/>
                </a:solidFill>
                <a:latin typeface="Arial"/>
              </a:rPr>
              <a:t>6 Retrieval</a:t>
            </a:r>
          </a:p>
        </p:txBody>
      </p:sp>
      <p:cxnSp>
        <p:nvCxnSpPr>
          <p:cNvPr id="20" name="Connector 19"/>
          <p:cNvCxnSpPr/>
          <p:nvPr/>
        </p:nvCxnSpPr>
        <p:spPr>
          <a:xfrm>
            <a:off x="8656167" y="2286000"/>
            <a:ext cx="146304"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8839047" y="1828800"/>
            <a:ext cx="114300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884767" y="2011680"/>
            <a:ext cx="1051560" cy="502920"/>
          </a:xfrm>
          <a:prstGeom prst="rect">
            <a:avLst/>
          </a:prstGeom>
          <a:noFill/>
        </p:spPr>
        <p:txBody>
          <a:bodyPr wrap="square">
            <a:spAutoFit/>
          </a:bodyPr>
          <a:lstStyle/>
          <a:p>
            <a:pPr algn="ctr"/>
            <a:r>
              <a:rPr sz="1100" b="1">
                <a:solidFill>
                  <a:srgbClr val="191919"/>
                </a:solidFill>
                <a:latin typeface="Arial"/>
              </a:rPr>
              <a:t>7 Generation</a:t>
            </a:r>
          </a:p>
        </p:txBody>
      </p:sp>
      <p:cxnSp>
        <p:nvCxnSpPr>
          <p:cNvPr id="23" name="Connector 22"/>
          <p:cNvCxnSpPr/>
          <p:nvPr/>
        </p:nvCxnSpPr>
        <p:spPr>
          <a:xfrm>
            <a:off x="9982047" y="2286000"/>
            <a:ext cx="146304"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10164927" y="1828800"/>
            <a:ext cx="114300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210647" y="2011680"/>
            <a:ext cx="1051560" cy="502920"/>
          </a:xfrm>
          <a:prstGeom prst="rect">
            <a:avLst/>
          </a:prstGeom>
          <a:noFill/>
        </p:spPr>
        <p:txBody>
          <a:bodyPr wrap="square">
            <a:spAutoFit/>
          </a:bodyPr>
          <a:lstStyle/>
          <a:p>
            <a:pPr algn="ctr"/>
            <a:r>
              <a:rPr sz="1100" b="1">
                <a:solidFill>
                  <a:srgbClr val="191919"/>
                </a:solidFill>
                <a:latin typeface="Arial"/>
              </a:rPr>
              <a:t>8 Response</a:t>
            </a:r>
          </a:p>
        </p:txBody>
      </p:sp>
      <p:sp>
        <p:nvSpPr>
          <p:cNvPr id="26" name="TextBox 25"/>
          <p:cNvSpPr txBox="1"/>
          <p:nvPr/>
        </p:nvSpPr>
        <p:spPr>
          <a:xfrm>
            <a:off x="472287" y="2926080"/>
            <a:ext cx="10972800" cy="3362459"/>
          </a:xfrm>
          <a:prstGeom prst="rect">
            <a:avLst/>
          </a:prstGeom>
          <a:noFill/>
        </p:spPr>
        <p:txBody>
          <a:bodyPr wrap="square">
            <a:spAutoFit/>
          </a:bodyPr>
          <a:lstStyle/>
          <a:p>
            <a:pPr>
              <a:spcAft>
                <a:spcPts val="900"/>
              </a:spcAft>
              <a:defRPr sz="1400">
                <a:solidFill>
                  <a:srgbClr val="191919"/>
                </a:solidFill>
                <a:latin typeface="Arial"/>
              </a:defRPr>
            </a:pPr>
            <a:r>
              <a:rPr sz="2000" dirty="0"/>
              <a:t>• PDF ingestion → Uploaded PDF is passed to the ML pipeline.</a:t>
            </a:r>
          </a:p>
          <a:p>
            <a:pPr>
              <a:spcAft>
                <a:spcPts val="900"/>
              </a:spcAft>
              <a:defRPr sz="1400">
                <a:solidFill>
                  <a:srgbClr val="191919"/>
                </a:solidFill>
                <a:latin typeface="Arial"/>
              </a:defRPr>
            </a:pPr>
            <a:r>
              <a:rPr sz="2000" dirty="0"/>
              <a:t>• Text extraction → </a:t>
            </a:r>
            <a:r>
              <a:rPr sz="2000" dirty="0" err="1"/>
              <a:t>PyMuPDF</a:t>
            </a:r>
            <a:r>
              <a:rPr sz="2000" dirty="0"/>
              <a:t> extracts text page by page.</a:t>
            </a:r>
          </a:p>
          <a:p>
            <a:pPr>
              <a:spcAft>
                <a:spcPts val="900"/>
              </a:spcAft>
              <a:defRPr sz="1400">
                <a:solidFill>
                  <a:srgbClr val="191919"/>
                </a:solidFill>
                <a:latin typeface="Arial"/>
              </a:defRPr>
            </a:pPr>
            <a:r>
              <a:rPr sz="2000" dirty="0"/>
              <a:t>• Chunking → Long documents are divided into smaller text chunks.</a:t>
            </a:r>
          </a:p>
          <a:p>
            <a:pPr>
              <a:spcAft>
                <a:spcPts val="900"/>
              </a:spcAft>
              <a:defRPr sz="1400">
                <a:solidFill>
                  <a:srgbClr val="191919"/>
                </a:solidFill>
                <a:latin typeface="Arial"/>
              </a:defRPr>
            </a:pPr>
            <a:r>
              <a:rPr sz="2000" dirty="0"/>
              <a:t>• Embedding → Sentence Transformer converts chunks into numerical vectors.</a:t>
            </a:r>
          </a:p>
          <a:p>
            <a:pPr>
              <a:spcAft>
                <a:spcPts val="900"/>
              </a:spcAft>
              <a:defRPr sz="1400">
                <a:solidFill>
                  <a:srgbClr val="191919"/>
                </a:solidFill>
                <a:latin typeface="Arial"/>
              </a:defRPr>
            </a:pPr>
            <a:r>
              <a:rPr sz="2000" dirty="0"/>
              <a:t>• Vector storage → FAISS stores vectors and enables similarity search.</a:t>
            </a:r>
          </a:p>
          <a:p>
            <a:pPr>
              <a:spcAft>
                <a:spcPts val="900"/>
              </a:spcAft>
              <a:defRPr sz="1400">
                <a:solidFill>
                  <a:srgbClr val="191919"/>
                </a:solidFill>
                <a:latin typeface="Arial"/>
              </a:defRPr>
            </a:pPr>
            <a:r>
              <a:rPr sz="2000" dirty="0"/>
              <a:t>• Retrieval → User questions are embedded and compared with document chunks.</a:t>
            </a:r>
          </a:p>
          <a:p>
            <a:pPr>
              <a:spcAft>
                <a:spcPts val="900"/>
              </a:spcAft>
              <a:defRPr sz="1400">
                <a:solidFill>
                  <a:srgbClr val="191919"/>
                </a:solidFill>
                <a:latin typeface="Arial"/>
              </a:defRPr>
            </a:pPr>
            <a:r>
              <a:rPr sz="2000" dirty="0"/>
              <a:t>• Generation → Relevant chunks are provided to the LLM as context.</a:t>
            </a:r>
          </a:p>
          <a:p>
            <a:pPr>
              <a:spcAft>
                <a:spcPts val="900"/>
              </a:spcAft>
              <a:defRPr sz="1400">
                <a:solidFill>
                  <a:srgbClr val="191919"/>
                </a:solidFill>
                <a:latin typeface="Arial"/>
              </a:defRPr>
            </a:pPr>
            <a:r>
              <a:rPr sz="2000" dirty="0"/>
              <a:t>• Response → The system returns an answer and document/page sources.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0972800" cy="457200"/>
          </a:xfrm>
          <a:prstGeom prst="rect">
            <a:avLst/>
          </a:prstGeom>
          <a:noFill/>
        </p:spPr>
        <p:txBody>
          <a:bodyPr wrap="square">
            <a:spAutoFit/>
          </a:bodyPr>
          <a:lstStyle/>
          <a:p>
            <a:pPr algn="l"/>
            <a:r>
              <a:rPr sz="2800" b="1">
                <a:solidFill>
                  <a:srgbClr val="191919"/>
                </a:solidFill>
                <a:latin typeface="Arial"/>
              </a:rPr>
              <a:t>Machine Learning Module</a:t>
            </a:r>
          </a:p>
        </p:txBody>
      </p:sp>
      <p:sp>
        <p:nvSpPr>
          <p:cNvPr id="3" name="TextBox 2"/>
          <p:cNvSpPr txBox="1"/>
          <p:nvPr/>
        </p:nvSpPr>
        <p:spPr>
          <a:xfrm>
            <a:off x="685800" y="1143000"/>
            <a:ext cx="10881360" cy="4208844"/>
          </a:xfrm>
          <a:prstGeom prst="rect">
            <a:avLst/>
          </a:prstGeom>
          <a:noFill/>
        </p:spPr>
        <p:txBody>
          <a:bodyPr wrap="square">
            <a:spAutoFit/>
          </a:bodyPr>
          <a:lstStyle/>
          <a:p>
            <a:pPr>
              <a:spcAft>
                <a:spcPts val="900"/>
              </a:spcAft>
              <a:defRPr sz="1400">
                <a:solidFill>
                  <a:srgbClr val="191919"/>
                </a:solidFill>
                <a:latin typeface="Arial"/>
              </a:defRPr>
            </a:pPr>
            <a:r>
              <a:rPr sz="2000" dirty="0"/>
              <a:t>• ML/</a:t>
            </a:r>
            <a:r>
              <a:rPr sz="2000" dirty="0" err="1"/>
              <a:t>src</a:t>
            </a:r>
            <a:r>
              <a:rPr sz="2000" dirty="0"/>
              <a:t>/</a:t>
            </a:r>
          </a:p>
          <a:p>
            <a:pPr>
              <a:spcAft>
                <a:spcPts val="900"/>
              </a:spcAft>
              <a:defRPr sz="1400">
                <a:solidFill>
                  <a:srgbClr val="191919"/>
                </a:solidFill>
                <a:latin typeface="Arial"/>
              </a:defRPr>
            </a:pPr>
            <a:r>
              <a:rPr sz="2000" dirty="0"/>
              <a:t>• pdf_loader.py → Extracts text from PDF pages.</a:t>
            </a:r>
          </a:p>
          <a:p>
            <a:pPr>
              <a:spcAft>
                <a:spcPts val="900"/>
              </a:spcAft>
              <a:defRPr sz="1400">
                <a:solidFill>
                  <a:srgbClr val="191919"/>
                </a:solidFill>
                <a:latin typeface="Arial"/>
              </a:defRPr>
            </a:pPr>
            <a:r>
              <a:rPr sz="2000" dirty="0"/>
              <a:t>• chunker.py → Splits extracted text into manageable chunks.</a:t>
            </a:r>
          </a:p>
          <a:p>
            <a:pPr>
              <a:spcAft>
                <a:spcPts val="900"/>
              </a:spcAft>
              <a:defRPr sz="1400">
                <a:solidFill>
                  <a:srgbClr val="191919"/>
                </a:solidFill>
                <a:latin typeface="Arial"/>
              </a:defRPr>
            </a:pPr>
            <a:r>
              <a:rPr sz="2000" dirty="0"/>
              <a:t>• embedder.py → Creates semantic embeddings using Sentence Transformers.</a:t>
            </a:r>
          </a:p>
          <a:p>
            <a:pPr>
              <a:spcAft>
                <a:spcPts val="900"/>
              </a:spcAft>
              <a:defRPr sz="1400">
                <a:solidFill>
                  <a:srgbClr val="191919"/>
                </a:solidFill>
                <a:latin typeface="Arial"/>
              </a:defRPr>
            </a:pPr>
            <a:r>
              <a:rPr sz="2000" dirty="0"/>
              <a:t>• vector_store.py → Stores embeddings and performs similarity search using FAISS.</a:t>
            </a:r>
          </a:p>
          <a:p>
            <a:pPr>
              <a:spcAft>
                <a:spcPts val="900"/>
              </a:spcAft>
              <a:defRPr sz="1400">
                <a:solidFill>
                  <a:srgbClr val="191919"/>
                </a:solidFill>
                <a:latin typeface="Arial"/>
              </a:defRPr>
            </a:pPr>
            <a:r>
              <a:rPr sz="2000" dirty="0"/>
              <a:t>• retriever.py → Retrieves relevant chunks for a user question.</a:t>
            </a:r>
          </a:p>
          <a:p>
            <a:pPr>
              <a:spcAft>
                <a:spcPts val="900"/>
              </a:spcAft>
              <a:defRPr sz="1400">
                <a:solidFill>
                  <a:srgbClr val="191919"/>
                </a:solidFill>
                <a:latin typeface="Arial"/>
              </a:defRPr>
            </a:pPr>
            <a:r>
              <a:rPr sz="2000" dirty="0"/>
              <a:t>• rag_pipeline.py → Coordinates PDF ingestion and retrieval.</a:t>
            </a:r>
          </a:p>
          <a:p>
            <a:pPr>
              <a:spcAft>
                <a:spcPts val="900"/>
              </a:spcAft>
              <a:defRPr sz="1400">
                <a:solidFill>
                  <a:srgbClr val="191919"/>
                </a:solidFill>
                <a:latin typeface="Arial"/>
              </a:defRPr>
            </a:pPr>
            <a:r>
              <a:rPr sz="2000" dirty="0"/>
              <a:t>• ml_service.py → Provides a clean service interface between backend and ML pipeline.</a:t>
            </a:r>
          </a:p>
          <a:p>
            <a:pPr>
              <a:spcAft>
                <a:spcPts val="900"/>
              </a:spcAft>
              <a:defRPr sz="1400">
                <a:solidFill>
                  <a:srgbClr val="191919"/>
                </a:solidFill>
                <a:latin typeface="Arial"/>
              </a:defRPr>
            </a:pPr>
            <a:r>
              <a:rPr sz="2000" dirty="0"/>
              <a:t>• llm.py → Sends retrieved context and the question to the LLM.</a:t>
            </a:r>
          </a:p>
          <a:p>
            <a:pPr>
              <a:spcAft>
                <a:spcPts val="900"/>
              </a:spcAft>
              <a:defRPr sz="1400">
                <a:solidFill>
                  <a:srgbClr val="191919"/>
                </a:solidFill>
                <a:latin typeface="Arial"/>
              </a:defRPr>
            </a:pPr>
            <a:r>
              <a:rPr sz="2000" dirty="0"/>
              <a:t>• ML module is separated from the backend for modularity.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0972800" cy="457200"/>
          </a:xfrm>
          <a:prstGeom prst="rect">
            <a:avLst/>
          </a:prstGeom>
          <a:noFill/>
        </p:spPr>
        <p:txBody>
          <a:bodyPr wrap="square">
            <a:spAutoFit/>
          </a:bodyPr>
          <a:lstStyle/>
          <a:p>
            <a:pPr algn="l"/>
            <a:r>
              <a:rPr sz="2800" b="1">
                <a:solidFill>
                  <a:srgbClr val="191919"/>
                </a:solidFill>
                <a:latin typeface="Arial"/>
              </a:rPr>
              <a:t>Document Ingestion Process</a:t>
            </a:r>
          </a:p>
        </p:txBody>
      </p:sp>
      <p:sp>
        <p:nvSpPr>
          <p:cNvPr id="3" name="Rectangle 2"/>
          <p:cNvSpPr/>
          <p:nvPr/>
        </p:nvSpPr>
        <p:spPr>
          <a:xfrm>
            <a:off x="344271" y="1828800"/>
            <a:ext cx="105156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89991" y="2011680"/>
            <a:ext cx="960119" cy="502920"/>
          </a:xfrm>
          <a:prstGeom prst="rect">
            <a:avLst/>
          </a:prstGeom>
          <a:noFill/>
        </p:spPr>
        <p:txBody>
          <a:bodyPr wrap="square">
            <a:spAutoFit/>
          </a:bodyPr>
          <a:lstStyle/>
          <a:p>
            <a:pPr algn="ctr"/>
            <a:r>
              <a:rPr sz="900" b="1">
                <a:solidFill>
                  <a:srgbClr val="191919"/>
                </a:solidFill>
                <a:latin typeface="Arial"/>
              </a:rPr>
              <a:t>User uploads PDF</a:t>
            </a:r>
          </a:p>
        </p:txBody>
      </p:sp>
      <p:cxnSp>
        <p:nvCxnSpPr>
          <p:cNvPr id="5" name="Connector 4"/>
          <p:cNvCxnSpPr/>
          <p:nvPr/>
        </p:nvCxnSpPr>
        <p:spPr>
          <a:xfrm>
            <a:off x="1395831" y="2286000"/>
            <a:ext cx="73152"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1505559" y="1828800"/>
            <a:ext cx="105156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51279" y="2011680"/>
            <a:ext cx="960119" cy="502920"/>
          </a:xfrm>
          <a:prstGeom prst="rect">
            <a:avLst/>
          </a:prstGeom>
          <a:noFill/>
        </p:spPr>
        <p:txBody>
          <a:bodyPr wrap="square">
            <a:spAutoFit/>
          </a:bodyPr>
          <a:lstStyle/>
          <a:p>
            <a:pPr algn="ctr"/>
            <a:r>
              <a:rPr sz="900" b="1">
                <a:solidFill>
                  <a:srgbClr val="191919"/>
                </a:solidFill>
                <a:latin typeface="Arial"/>
              </a:rPr>
              <a:t>FastAPI receives file</a:t>
            </a:r>
          </a:p>
        </p:txBody>
      </p:sp>
      <p:cxnSp>
        <p:nvCxnSpPr>
          <p:cNvPr id="8" name="Connector 7"/>
          <p:cNvCxnSpPr/>
          <p:nvPr/>
        </p:nvCxnSpPr>
        <p:spPr>
          <a:xfrm>
            <a:off x="2557119" y="2286000"/>
            <a:ext cx="73152"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666847" y="1828800"/>
            <a:ext cx="105156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12567" y="2011680"/>
            <a:ext cx="960119" cy="502920"/>
          </a:xfrm>
          <a:prstGeom prst="rect">
            <a:avLst/>
          </a:prstGeom>
          <a:noFill/>
        </p:spPr>
        <p:txBody>
          <a:bodyPr wrap="square">
            <a:spAutoFit/>
          </a:bodyPr>
          <a:lstStyle/>
          <a:p>
            <a:pPr algn="ctr"/>
            <a:r>
              <a:rPr sz="900" b="1">
                <a:solidFill>
                  <a:srgbClr val="191919"/>
                </a:solidFill>
                <a:latin typeface="Arial"/>
              </a:rPr>
              <a:t>PDF saved</a:t>
            </a:r>
          </a:p>
        </p:txBody>
      </p:sp>
      <p:cxnSp>
        <p:nvCxnSpPr>
          <p:cNvPr id="11" name="Connector 10"/>
          <p:cNvCxnSpPr/>
          <p:nvPr/>
        </p:nvCxnSpPr>
        <p:spPr>
          <a:xfrm>
            <a:off x="3718407" y="2286000"/>
            <a:ext cx="73152"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828135" y="1828800"/>
            <a:ext cx="105156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73855" y="2011680"/>
            <a:ext cx="960119" cy="502920"/>
          </a:xfrm>
          <a:prstGeom prst="rect">
            <a:avLst/>
          </a:prstGeom>
          <a:noFill/>
        </p:spPr>
        <p:txBody>
          <a:bodyPr wrap="square">
            <a:spAutoFit/>
          </a:bodyPr>
          <a:lstStyle/>
          <a:p>
            <a:pPr algn="ctr"/>
            <a:r>
              <a:rPr sz="900" b="1">
                <a:solidFill>
                  <a:srgbClr val="191919"/>
                </a:solidFill>
                <a:latin typeface="Arial"/>
              </a:rPr>
              <a:t>MLService.add_document()</a:t>
            </a:r>
          </a:p>
        </p:txBody>
      </p:sp>
      <p:cxnSp>
        <p:nvCxnSpPr>
          <p:cNvPr id="14" name="Connector 13"/>
          <p:cNvCxnSpPr/>
          <p:nvPr/>
        </p:nvCxnSpPr>
        <p:spPr>
          <a:xfrm>
            <a:off x="4879695" y="2286000"/>
            <a:ext cx="73152"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989423" y="1828800"/>
            <a:ext cx="105156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35143" y="2011680"/>
            <a:ext cx="960119" cy="502920"/>
          </a:xfrm>
          <a:prstGeom prst="rect">
            <a:avLst/>
          </a:prstGeom>
          <a:noFill/>
        </p:spPr>
        <p:txBody>
          <a:bodyPr wrap="square">
            <a:spAutoFit/>
          </a:bodyPr>
          <a:lstStyle/>
          <a:p>
            <a:pPr algn="ctr"/>
            <a:r>
              <a:rPr sz="900" b="1">
                <a:solidFill>
                  <a:srgbClr val="191919"/>
                </a:solidFill>
                <a:latin typeface="Arial"/>
              </a:rPr>
              <a:t>RAGPipeline.add_pdf()</a:t>
            </a:r>
          </a:p>
        </p:txBody>
      </p:sp>
      <p:cxnSp>
        <p:nvCxnSpPr>
          <p:cNvPr id="17" name="Connector 16"/>
          <p:cNvCxnSpPr/>
          <p:nvPr/>
        </p:nvCxnSpPr>
        <p:spPr>
          <a:xfrm>
            <a:off x="6040983" y="2286000"/>
            <a:ext cx="73152"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150711" y="1828800"/>
            <a:ext cx="105156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196431" y="2011680"/>
            <a:ext cx="960119" cy="502920"/>
          </a:xfrm>
          <a:prstGeom prst="rect">
            <a:avLst/>
          </a:prstGeom>
          <a:noFill/>
        </p:spPr>
        <p:txBody>
          <a:bodyPr wrap="square">
            <a:spAutoFit/>
          </a:bodyPr>
          <a:lstStyle/>
          <a:p>
            <a:pPr algn="ctr"/>
            <a:r>
              <a:rPr sz="900" b="1">
                <a:solidFill>
                  <a:srgbClr val="191919"/>
                </a:solidFill>
                <a:latin typeface="Arial"/>
              </a:rPr>
              <a:t>Text extraction</a:t>
            </a:r>
          </a:p>
        </p:txBody>
      </p:sp>
      <p:cxnSp>
        <p:nvCxnSpPr>
          <p:cNvPr id="20" name="Connector 19"/>
          <p:cNvCxnSpPr/>
          <p:nvPr/>
        </p:nvCxnSpPr>
        <p:spPr>
          <a:xfrm>
            <a:off x="7202271" y="2286000"/>
            <a:ext cx="73152"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7311999" y="1828800"/>
            <a:ext cx="105156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57719" y="2011680"/>
            <a:ext cx="960119" cy="502920"/>
          </a:xfrm>
          <a:prstGeom prst="rect">
            <a:avLst/>
          </a:prstGeom>
          <a:noFill/>
        </p:spPr>
        <p:txBody>
          <a:bodyPr wrap="square">
            <a:spAutoFit/>
          </a:bodyPr>
          <a:lstStyle/>
          <a:p>
            <a:pPr algn="ctr"/>
            <a:r>
              <a:rPr sz="900" b="1">
                <a:solidFill>
                  <a:srgbClr val="191919"/>
                </a:solidFill>
                <a:latin typeface="Arial"/>
              </a:rPr>
              <a:t>Chunk creation</a:t>
            </a:r>
          </a:p>
        </p:txBody>
      </p:sp>
      <p:cxnSp>
        <p:nvCxnSpPr>
          <p:cNvPr id="23" name="Connector 22"/>
          <p:cNvCxnSpPr/>
          <p:nvPr/>
        </p:nvCxnSpPr>
        <p:spPr>
          <a:xfrm>
            <a:off x="8363559" y="2286000"/>
            <a:ext cx="73152"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8473287" y="1828800"/>
            <a:ext cx="105156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519007" y="2011680"/>
            <a:ext cx="960119" cy="502920"/>
          </a:xfrm>
          <a:prstGeom prst="rect">
            <a:avLst/>
          </a:prstGeom>
          <a:noFill/>
        </p:spPr>
        <p:txBody>
          <a:bodyPr wrap="square">
            <a:spAutoFit/>
          </a:bodyPr>
          <a:lstStyle/>
          <a:p>
            <a:pPr algn="ctr"/>
            <a:r>
              <a:rPr sz="900" b="1">
                <a:solidFill>
                  <a:srgbClr val="191919"/>
                </a:solidFill>
                <a:latin typeface="Arial"/>
              </a:rPr>
              <a:t>Embedding generation</a:t>
            </a:r>
          </a:p>
        </p:txBody>
      </p:sp>
      <p:cxnSp>
        <p:nvCxnSpPr>
          <p:cNvPr id="26" name="Connector 25"/>
          <p:cNvCxnSpPr/>
          <p:nvPr/>
        </p:nvCxnSpPr>
        <p:spPr>
          <a:xfrm>
            <a:off x="9524847" y="2286000"/>
            <a:ext cx="73152"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9634575" y="1828800"/>
            <a:ext cx="105156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80295" y="2011680"/>
            <a:ext cx="960119" cy="502920"/>
          </a:xfrm>
          <a:prstGeom prst="rect">
            <a:avLst/>
          </a:prstGeom>
          <a:noFill/>
        </p:spPr>
        <p:txBody>
          <a:bodyPr wrap="square">
            <a:spAutoFit/>
          </a:bodyPr>
          <a:lstStyle/>
          <a:p>
            <a:pPr algn="ctr"/>
            <a:r>
              <a:rPr sz="900" b="1">
                <a:solidFill>
                  <a:srgbClr val="191919"/>
                </a:solidFill>
                <a:latin typeface="Arial"/>
              </a:rPr>
              <a:t>FAISS indexing</a:t>
            </a:r>
          </a:p>
        </p:txBody>
      </p:sp>
      <p:cxnSp>
        <p:nvCxnSpPr>
          <p:cNvPr id="29" name="Connector 28"/>
          <p:cNvCxnSpPr/>
          <p:nvPr/>
        </p:nvCxnSpPr>
        <p:spPr>
          <a:xfrm>
            <a:off x="10686135" y="2286000"/>
            <a:ext cx="73152"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10795863" y="1828800"/>
            <a:ext cx="105156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841583" y="2011680"/>
            <a:ext cx="960119" cy="502920"/>
          </a:xfrm>
          <a:prstGeom prst="rect">
            <a:avLst/>
          </a:prstGeom>
          <a:noFill/>
        </p:spPr>
        <p:txBody>
          <a:bodyPr wrap="square">
            <a:spAutoFit/>
          </a:bodyPr>
          <a:lstStyle/>
          <a:p>
            <a:pPr algn="ctr"/>
            <a:r>
              <a:rPr sz="900" b="1">
                <a:solidFill>
                  <a:srgbClr val="191919"/>
                </a:solidFill>
                <a:latin typeface="Arial"/>
              </a:rPr>
              <a:t>Searchable</a:t>
            </a:r>
          </a:p>
        </p:txBody>
      </p:sp>
      <p:sp>
        <p:nvSpPr>
          <p:cNvPr id="32" name="TextBox 31"/>
          <p:cNvSpPr txBox="1"/>
          <p:nvPr/>
        </p:nvSpPr>
        <p:spPr>
          <a:xfrm>
            <a:off x="548640" y="3429000"/>
            <a:ext cx="10607040" cy="1246495"/>
          </a:xfrm>
          <a:prstGeom prst="rect">
            <a:avLst/>
          </a:prstGeom>
          <a:noFill/>
        </p:spPr>
        <p:txBody>
          <a:bodyPr wrap="square">
            <a:spAutoFit/>
          </a:bodyPr>
          <a:lstStyle/>
          <a:p>
            <a:pPr>
              <a:spcAft>
                <a:spcPts val="900"/>
              </a:spcAft>
              <a:defRPr sz="1800">
                <a:solidFill>
                  <a:srgbClr val="191919"/>
                </a:solidFill>
                <a:latin typeface="Arial"/>
              </a:defRPr>
            </a:pPr>
            <a:r>
              <a:rPr sz="2000" dirty="0"/>
              <a:t>• Sample enterprise policy PDF was processed successfully.</a:t>
            </a:r>
          </a:p>
          <a:p>
            <a:pPr>
              <a:spcAft>
                <a:spcPts val="900"/>
              </a:spcAft>
              <a:defRPr sz="1800">
                <a:solidFill>
                  <a:srgbClr val="191919"/>
                </a:solidFill>
                <a:latin typeface="Arial"/>
              </a:defRPr>
            </a:pPr>
            <a:r>
              <a:rPr sz="2000" dirty="0"/>
              <a:t>• Pipeline produced 3 chunks from the sample PDF.</a:t>
            </a:r>
          </a:p>
          <a:p>
            <a:pPr>
              <a:spcAft>
                <a:spcPts val="900"/>
              </a:spcAft>
              <a:defRPr sz="1800">
                <a:solidFill>
                  <a:srgbClr val="191919"/>
                </a:solidFill>
                <a:latin typeface="Arial"/>
              </a:defRPr>
            </a:pPr>
            <a:r>
              <a:rPr sz="2000" dirty="0"/>
              <a:t>• This is a tested example and does not represent all possible documents.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0972800" cy="457200"/>
          </a:xfrm>
          <a:prstGeom prst="rect">
            <a:avLst/>
          </a:prstGeom>
          <a:noFill/>
        </p:spPr>
        <p:txBody>
          <a:bodyPr wrap="square">
            <a:spAutoFit/>
          </a:bodyPr>
          <a:lstStyle/>
          <a:p>
            <a:pPr algn="l"/>
            <a:r>
              <a:rPr sz="2800" b="1">
                <a:solidFill>
                  <a:srgbClr val="191919"/>
                </a:solidFill>
                <a:latin typeface="Arial"/>
              </a:rPr>
              <a:t>Question Answering Process</a:t>
            </a:r>
          </a:p>
        </p:txBody>
      </p:sp>
      <p:sp>
        <p:nvSpPr>
          <p:cNvPr id="3" name="Rectangle 2"/>
          <p:cNvSpPr/>
          <p:nvPr/>
        </p:nvSpPr>
        <p:spPr>
          <a:xfrm>
            <a:off x="815187" y="1828800"/>
            <a:ext cx="105156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0907" y="2011680"/>
            <a:ext cx="960119" cy="502920"/>
          </a:xfrm>
          <a:prstGeom prst="rect">
            <a:avLst/>
          </a:prstGeom>
          <a:noFill/>
        </p:spPr>
        <p:txBody>
          <a:bodyPr wrap="square">
            <a:spAutoFit/>
          </a:bodyPr>
          <a:lstStyle/>
          <a:p>
            <a:pPr algn="ctr"/>
            <a:r>
              <a:rPr sz="900" b="1">
                <a:solidFill>
                  <a:srgbClr val="191919"/>
                </a:solidFill>
                <a:latin typeface="Arial"/>
              </a:rPr>
              <a:t>User question</a:t>
            </a:r>
          </a:p>
        </p:txBody>
      </p:sp>
      <p:cxnSp>
        <p:nvCxnSpPr>
          <p:cNvPr id="5" name="Connector 4"/>
          <p:cNvCxnSpPr/>
          <p:nvPr/>
        </p:nvCxnSpPr>
        <p:spPr>
          <a:xfrm>
            <a:off x="1866747" y="2286000"/>
            <a:ext cx="100584"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2003907" y="1828800"/>
            <a:ext cx="105156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049627" y="2011680"/>
            <a:ext cx="960119" cy="502920"/>
          </a:xfrm>
          <a:prstGeom prst="rect">
            <a:avLst/>
          </a:prstGeom>
          <a:noFill/>
        </p:spPr>
        <p:txBody>
          <a:bodyPr wrap="square">
            <a:spAutoFit/>
          </a:bodyPr>
          <a:lstStyle/>
          <a:p>
            <a:pPr algn="ctr"/>
            <a:r>
              <a:rPr sz="900" b="1">
                <a:solidFill>
                  <a:srgbClr val="191919"/>
                </a:solidFill>
                <a:latin typeface="Arial"/>
              </a:rPr>
              <a:t>Frontend</a:t>
            </a:r>
          </a:p>
        </p:txBody>
      </p:sp>
      <p:cxnSp>
        <p:nvCxnSpPr>
          <p:cNvPr id="8" name="Connector 7"/>
          <p:cNvCxnSpPr/>
          <p:nvPr/>
        </p:nvCxnSpPr>
        <p:spPr>
          <a:xfrm>
            <a:off x="3055467" y="2286000"/>
            <a:ext cx="100584"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192627" y="1828800"/>
            <a:ext cx="105156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38347" y="2011680"/>
            <a:ext cx="960119" cy="502920"/>
          </a:xfrm>
          <a:prstGeom prst="rect">
            <a:avLst/>
          </a:prstGeom>
          <a:noFill/>
        </p:spPr>
        <p:txBody>
          <a:bodyPr wrap="square">
            <a:spAutoFit/>
          </a:bodyPr>
          <a:lstStyle/>
          <a:p>
            <a:pPr algn="ctr"/>
            <a:r>
              <a:rPr sz="900" b="1">
                <a:solidFill>
                  <a:srgbClr val="191919"/>
                </a:solidFill>
                <a:latin typeface="Arial"/>
              </a:rPr>
              <a:t>FastAPI /chat</a:t>
            </a:r>
          </a:p>
        </p:txBody>
      </p:sp>
      <p:cxnSp>
        <p:nvCxnSpPr>
          <p:cNvPr id="11" name="Connector 10"/>
          <p:cNvCxnSpPr/>
          <p:nvPr/>
        </p:nvCxnSpPr>
        <p:spPr>
          <a:xfrm>
            <a:off x="4244187" y="2286000"/>
            <a:ext cx="100584"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4381347" y="1828800"/>
            <a:ext cx="105156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27067" y="2011680"/>
            <a:ext cx="960119" cy="502920"/>
          </a:xfrm>
          <a:prstGeom prst="rect">
            <a:avLst/>
          </a:prstGeom>
          <a:noFill/>
        </p:spPr>
        <p:txBody>
          <a:bodyPr wrap="square">
            <a:spAutoFit/>
          </a:bodyPr>
          <a:lstStyle/>
          <a:p>
            <a:pPr algn="ctr"/>
            <a:r>
              <a:rPr sz="900" b="1">
                <a:solidFill>
                  <a:srgbClr val="191919"/>
                </a:solidFill>
                <a:latin typeface="Arial"/>
              </a:rPr>
              <a:t>rag_service.
answer_question()</a:t>
            </a:r>
          </a:p>
        </p:txBody>
      </p:sp>
      <p:cxnSp>
        <p:nvCxnSpPr>
          <p:cNvPr id="14" name="Connector 13"/>
          <p:cNvCxnSpPr/>
          <p:nvPr/>
        </p:nvCxnSpPr>
        <p:spPr>
          <a:xfrm>
            <a:off x="5432907" y="2286000"/>
            <a:ext cx="100584"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570067" y="1828800"/>
            <a:ext cx="105156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615787" y="2011680"/>
            <a:ext cx="960119" cy="502920"/>
          </a:xfrm>
          <a:prstGeom prst="rect">
            <a:avLst/>
          </a:prstGeom>
          <a:noFill/>
        </p:spPr>
        <p:txBody>
          <a:bodyPr wrap="square">
            <a:spAutoFit/>
          </a:bodyPr>
          <a:lstStyle/>
          <a:p>
            <a:pPr algn="ctr"/>
            <a:r>
              <a:rPr sz="900" b="1">
                <a:solidFill>
                  <a:srgbClr val="191919"/>
                </a:solidFill>
                <a:latin typeface="Arial"/>
              </a:rPr>
              <a:t>MLService.search()</a:t>
            </a:r>
          </a:p>
        </p:txBody>
      </p:sp>
      <p:cxnSp>
        <p:nvCxnSpPr>
          <p:cNvPr id="17" name="Connector 16"/>
          <p:cNvCxnSpPr/>
          <p:nvPr/>
        </p:nvCxnSpPr>
        <p:spPr>
          <a:xfrm>
            <a:off x="6621627" y="2286000"/>
            <a:ext cx="100584"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758787" y="1828800"/>
            <a:ext cx="105156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04507" y="2011680"/>
            <a:ext cx="960119" cy="502920"/>
          </a:xfrm>
          <a:prstGeom prst="rect">
            <a:avLst/>
          </a:prstGeom>
          <a:noFill/>
        </p:spPr>
        <p:txBody>
          <a:bodyPr wrap="square">
            <a:spAutoFit/>
          </a:bodyPr>
          <a:lstStyle/>
          <a:p>
            <a:pPr algn="ctr"/>
            <a:r>
              <a:rPr sz="900" b="1">
                <a:solidFill>
                  <a:srgbClr val="191919"/>
                </a:solidFill>
                <a:latin typeface="Arial"/>
              </a:rPr>
              <a:t>Semantic
similarity search</a:t>
            </a:r>
          </a:p>
        </p:txBody>
      </p:sp>
      <p:cxnSp>
        <p:nvCxnSpPr>
          <p:cNvPr id="20" name="Connector 19"/>
          <p:cNvCxnSpPr/>
          <p:nvPr/>
        </p:nvCxnSpPr>
        <p:spPr>
          <a:xfrm>
            <a:off x="7810347" y="2286000"/>
            <a:ext cx="100584"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7947507" y="1828800"/>
            <a:ext cx="105156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993227" y="2011680"/>
            <a:ext cx="960119" cy="502920"/>
          </a:xfrm>
          <a:prstGeom prst="rect">
            <a:avLst/>
          </a:prstGeom>
          <a:noFill/>
        </p:spPr>
        <p:txBody>
          <a:bodyPr wrap="square">
            <a:spAutoFit/>
          </a:bodyPr>
          <a:lstStyle/>
          <a:p>
            <a:pPr algn="ctr"/>
            <a:r>
              <a:rPr sz="900" b="1">
                <a:solidFill>
                  <a:srgbClr val="191919"/>
                </a:solidFill>
                <a:latin typeface="Arial"/>
              </a:rPr>
              <a:t>Top relevant
chunks</a:t>
            </a:r>
          </a:p>
        </p:txBody>
      </p:sp>
      <p:cxnSp>
        <p:nvCxnSpPr>
          <p:cNvPr id="23" name="Connector 22"/>
          <p:cNvCxnSpPr/>
          <p:nvPr/>
        </p:nvCxnSpPr>
        <p:spPr>
          <a:xfrm>
            <a:off x="8999067" y="2286000"/>
            <a:ext cx="100584"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36227" y="1828800"/>
            <a:ext cx="105156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81947" y="2011680"/>
            <a:ext cx="960119" cy="502920"/>
          </a:xfrm>
          <a:prstGeom prst="rect">
            <a:avLst/>
          </a:prstGeom>
          <a:noFill/>
        </p:spPr>
        <p:txBody>
          <a:bodyPr wrap="square">
            <a:spAutoFit/>
          </a:bodyPr>
          <a:lstStyle/>
          <a:p>
            <a:pPr algn="ctr"/>
            <a:r>
              <a:rPr sz="900" b="1">
                <a:solidFill>
                  <a:srgbClr val="191919"/>
                </a:solidFill>
                <a:latin typeface="Arial"/>
              </a:rPr>
              <a:t>LLM</a:t>
            </a:r>
          </a:p>
        </p:txBody>
      </p:sp>
      <p:cxnSp>
        <p:nvCxnSpPr>
          <p:cNvPr id="26" name="Connector 25"/>
          <p:cNvCxnSpPr/>
          <p:nvPr/>
        </p:nvCxnSpPr>
        <p:spPr>
          <a:xfrm>
            <a:off x="10187787" y="2286000"/>
            <a:ext cx="100584"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0324947" y="1828800"/>
            <a:ext cx="105156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370667" y="2011680"/>
            <a:ext cx="960119" cy="502920"/>
          </a:xfrm>
          <a:prstGeom prst="rect">
            <a:avLst/>
          </a:prstGeom>
          <a:noFill/>
        </p:spPr>
        <p:txBody>
          <a:bodyPr wrap="square">
            <a:spAutoFit/>
          </a:bodyPr>
          <a:lstStyle/>
          <a:p>
            <a:pPr algn="ctr"/>
            <a:r>
              <a:rPr sz="900" b="1">
                <a:solidFill>
                  <a:srgbClr val="191919"/>
                </a:solidFill>
                <a:latin typeface="Arial"/>
              </a:rPr>
              <a:t>Answer +
Sources</a:t>
            </a:r>
          </a:p>
        </p:txBody>
      </p:sp>
      <p:sp>
        <p:nvSpPr>
          <p:cNvPr id="29" name="TextBox 28"/>
          <p:cNvSpPr txBox="1"/>
          <p:nvPr/>
        </p:nvSpPr>
        <p:spPr>
          <a:xfrm>
            <a:off x="777240" y="3429000"/>
            <a:ext cx="10515600" cy="1669688"/>
          </a:xfrm>
          <a:prstGeom prst="rect">
            <a:avLst/>
          </a:prstGeom>
          <a:noFill/>
        </p:spPr>
        <p:txBody>
          <a:bodyPr wrap="square">
            <a:spAutoFit/>
          </a:bodyPr>
          <a:lstStyle/>
          <a:p>
            <a:pPr>
              <a:spcAft>
                <a:spcPts val="900"/>
              </a:spcAft>
              <a:defRPr sz="1700">
                <a:solidFill>
                  <a:srgbClr val="191919"/>
                </a:solidFill>
                <a:latin typeface="Arial"/>
              </a:defRPr>
            </a:pPr>
            <a:r>
              <a:rPr sz="2000" dirty="0"/>
              <a:t>• Example question → "What is the leave policy?"</a:t>
            </a:r>
          </a:p>
          <a:p>
            <a:pPr>
              <a:spcAft>
                <a:spcPts val="900"/>
              </a:spcAft>
              <a:defRPr sz="1700">
                <a:solidFill>
                  <a:srgbClr val="191919"/>
                </a:solidFill>
                <a:latin typeface="Arial"/>
              </a:defRPr>
            </a:pPr>
            <a:r>
              <a:rPr sz="2000" dirty="0"/>
              <a:t>• LLM receives → User question + retrieved document context.</a:t>
            </a:r>
          </a:p>
          <a:p>
            <a:pPr>
              <a:spcAft>
                <a:spcPts val="900"/>
              </a:spcAft>
              <a:defRPr sz="1700">
                <a:solidFill>
                  <a:srgbClr val="191919"/>
                </a:solidFill>
                <a:latin typeface="Arial"/>
              </a:defRPr>
            </a:pPr>
            <a:r>
              <a:rPr sz="2000" dirty="0"/>
              <a:t>• Sources → Document name + page number.</a:t>
            </a:r>
          </a:p>
          <a:p>
            <a:pPr>
              <a:spcAft>
                <a:spcPts val="900"/>
              </a:spcAft>
              <a:defRPr sz="1700">
                <a:solidFill>
                  <a:srgbClr val="191919"/>
                </a:solidFill>
                <a:latin typeface="Arial"/>
              </a:defRPr>
            </a:pPr>
            <a:r>
              <a:rPr sz="2000" dirty="0"/>
              <a:t>• Architecture grounds answers in retrieved enterprise documents.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0972800" cy="457200"/>
          </a:xfrm>
          <a:prstGeom prst="rect">
            <a:avLst/>
          </a:prstGeom>
          <a:noFill/>
        </p:spPr>
        <p:txBody>
          <a:bodyPr wrap="square">
            <a:spAutoFit/>
          </a:bodyPr>
          <a:lstStyle/>
          <a:p>
            <a:pPr algn="l"/>
            <a:r>
              <a:rPr sz="2800" b="1">
                <a:solidFill>
                  <a:srgbClr val="191919"/>
                </a:solidFill>
                <a:latin typeface="Arial"/>
              </a:rPr>
              <a:t>Backend Integration</a:t>
            </a:r>
          </a:p>
        </p:txBody>
      </p:sp>
      <p:sp>
        <p:nvSpPr>
          <p:cNvPr id="3" name="TextBox 2"/>
          <p:cNvSpPr txBox="1"/>
          <p:nvPr/>
        </p:nvSpPr>
        <p:spPr>
          <a:xfrm>
            <a:off x="685800" y="1234440"/>
            <a:ext cx="10881360" cy="3439403"/>
          </a:xfrm>
          <a:prstGeom prst="rect">
            <a:avLst/>
          </a:prstGeom>
          <a:noFill/>
        </p:spPr>
        <p:txBody>
          <a:bodyPr wrap="square">
            <a:spAutoFit/>
          </a:bodyPr>
          <a:lstStyle/>
          <a:p>
            <a:pPr>
              <a:spcAft>
                <a:spcPts val="900"/>
              </a:spcAft>
              <a:defRPr sz="1600">
                <a:solidFill>
                  <a:srgbClr val="191919"/>
                </a:solidFill>
                <a:latin typeface="Arial"/>
              </a:defRPr>
            </a:pPr>
            <a:r>
              <a:rPr sz="2000" dirty="0"/>
              <a:t>• </a:t>
            </a:r>
            <a:r>
              <a:rPr sz="2000" dirty="0" err="1"/>
              <a:t>FastAPI</a:t>
            </a:r>
            <a:r>
              <a:rPr sz="2000" dirty="0"/>
              <a:t> provides the application/API layer.</a:t>
            </a:r>
          </a:p>
          <a:p>
            <a:pPr>
              <a:spcAft>
                <a:spcPts val="900"/>
              </a:spcAft>
              <a:defRPr sz="1600">
                <a:solidFill>
                  <a:srgbClr val="191919"/>
                </a:solidFill>
                <a:latin typeface="Arial"/>
              </a:defRPr>
            </a:pPr>
            <a:r>
              <a:rPr sz="2000" dirty="0"/>
              <a:t>• POST /upload → Accepts PDF documents, saves the uploaded document, and sends it to the ML ingestion pipeline.</a:t>
            </a:r>
          </a:p>
          <a:p>
            <a:pPr>
              <a:spcAft>
                <a:spcPts val="900"/>
              </a:spcAft>
              <a:defRPr sz="1600">
                <a:solidFill>
                  <a:srgbClr val="191919"/>
                </a:solidFill>
                <a:latin typeface="Arial"/>
              </a:defRPr>
            </a:pPr>
            <a:r>
              <a:rPr sz="2000" dirty="0"/>
              <a:t>• POST /chat → Accepts a natural-language question, sends it to RAG retrieval, generates an answer, and returns answer + document/page sources.</a:t>
            </a:r>
          </a:p>
          <a:p>
            <a:pPr>
              <a:spcAft>
                <a:spcPts val="900"/>
              </a:spcAft>
              <a:defRPr sz="1600">
                <a:solidFill>
                  <a:srgbClr val="191919"/>
                </a:solidFill>
                <a:latin typeface="Arial"/>
              </a:defRPr>
            </a:pPr>
            <a:r>
              <a:rPr sz="2000" dirty="0"/>
              <a:t>• GET /documents → Provides document-related information.</a:t>
            </a:r>
          </a:p>
          <a:p>
            <a:pPr>
              <a:spcAft>
                <a:spcPts val="900"/>
              </a:spcAft>
              <a:defRPr sz="1600">
                <a:solidFill>
                  <a:srgbClr val="191919"/>
                </a:solidFill>
                <a:latin typeface="Arial"/>
              </a:defRPr>
            </a:pPr>
            <a:r>
              <a:rPr sz="2000" dirty="0"/>
              <a:t>• GET /reports → Provides report-related functionality supported by the backend.</a:t>
            </a:r>
          </a:p>
          <a:p>
            <a:pPr>
              <a:spcAft>
                <a:spcPts val="900"/>
              </a:spcAft>
              <a:defRPr sz="1600">
                <a:solidFill>
                  <a:srgbClr val="191919"/>
                </a:solidFill>
                <a:latin typeface="Arial"/>
              </a:defRPr>
            </a:pPr>
            <a:r>
              <a:rPr sz="2000" dirty="0"/>
              <a:t>• Integration flow → Frontend → </a:t>
            </a:r>
            <a:r>
              <a:rPr sz="2000" dirty="0" err="1"/>
              <a:t>FastAPI</a:t>
            </a:r>
            <a:r>
              <a:rPr sz="2000" dirty="0"/>
              <a:t> Routes → RAG Service → ML Service → RAG Pipeline.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0972800" cy="457200"/>
          </a:xfrm>
          <a:prstGeom prst="rect">
            <a:avLst/>
          </a:prstGeom>
          <a:noFill/>
        </p:spPr>
        <p:txBody>
          <a:bodyPr wrap="square">
            <a:spAutoFit/>
          </a:bodyPr>
          <a:lstStyle/>
          <a:p>
            <a:pPr algn="l"/>
            <a:r>
              <a:rPr sz="2800" b="1">
                <a:solidFill>
                  <a:srgbClr val="191919"/>
                </a:solidFill>
                <a:latin typeface="Arial"/>
              </a:rPr>
              <a:t>Frontend User Experience</a:t>
            </a:r>
          </a:p>
        </p:txBody>
      </p:sp>
      <p:sp>
        <p:nvSpPr>
          <p:cNvPr id="3" name="Rectangle 2"/>
          <p:cNvSpPr/>
          <p:nvPr/>
        </p:nvSpPr>
        <p:spPr>
          <a:xfrm>
            <a:off x="1386687" y="1920240"/>
            <a:ext cx="141732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432407" y="2103120"/>
            <a:ext cx="1325880" cy="502920"/>
          </a:xfrm>
          <a:prstGeom prst="rect">
            <a:avLst/>
          </a:prstGeom>
          <a:noFill/>
        </p:spPr>
        <p:txBody>
          <a:bodyPr wrap="square">
            <a:spAutoFit/>
          </a:bodyPr>
          <a:lstStyle/>
          <a:p>
            <a:pPr algn="ctr"/>
            <a:r>
              <a:rPr sz="1400" b="1">
                <a:solidFill>
                  <a:srgbClr val="191919"/>
                </a:solidFill>
                <a:latin typeface="Arial"/>
              </a:rPr>
              <a:t>Upload PDF</a:t>
            </a:r>
          </a:p>
        </p:txBody>
      </p:sp>
      <p:cxnSp>
        <p:nvCxnSpPr>
          <p:cNvPr id="5" name="Connector 4"/>
          <p:cNvCxnSpPr/>
          <p:nvPr/>
        </p:nvCxnSpPr>
        <p:spPr>
          <a:xfrm>
            <a:off x="2804007" y="2377440"/>
            <a:ext cx="146304"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2986887" y="1920240"/>
            <a:ext cx="141732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032607" y="2103120"/>
            <a:ext cx="1325880" cy="502920"/>
          </a:xfrm>
          <a:prstGeom prst="rect">
            <a:avLst/>
          </a:prstGeom>
          <a:noFill/>
        </p:spPr>
        <p:txBody>
          <a:bodyPr wrap="square">
            <a:spAutoFit/>
          </a:bodyPr>
          <a:lstStyle/>
          <a:p>
            <a:pPr algn="ctr"/>
            <a:r>
              <a:rPr sz="1400" b="1">
                <a:solidFill>
                  <a:srgbClr val="191919"/>
                </a:solidFill>
                <a:latin typeface="Arial"/>
              </a:rPr>
              <a:t>Process document</a:t>
            </a:r>
          </a:p>
        </p:txBody>
      </p:sp>
      <p:cxnSp>
        <p:nvCxnSpPr>
          <p:cNvPr id="8" name="Connector 7"/>
          <p:cNvCxnSpPr/>
          <p:nvPr/>
        </p:nvCxnSpPr>
        <p:spPr>
          <a:xfrm>
            <a:off x="4404207" y="2377440"/>
            <a:ext cx="146304"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4587087" y="1920240"/>
            <a:ext cx="141732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32807" y="2103120"/>
            <a:ext cx="1325880" cy="502920"/>
          </a:xfrm>
          <a:prstGeom prst="rect">
            <a:avLst/>
          </a:prstGeom>
          <a:noFill/>
        </p:spPr>
        <p:txBody>
          <a:bodyPr wrap="square">
            <a:spAutoFit/>
          </a:bodyPr>
          <a:lstStyle/>
          <a:p>
            <a:pPr algn="ctr"/>
            <a:r>
              <a:rPr sz="1400" b="1">
                <a:solidFill>
                  <a:srgbClr val="191919"/>
                </a:solidFill>
                <a:latin typeface="Arial"/>
              </a:rPr>
              <a:t>Open AI Assistant</a:t>
            </a:r>
          </a:p>
        </p:txBody>
      </p:sp>
      <p:cxnSp>
        <p:nvCxnSpPr>
          <p:cNvPr id="11" name="Connector 10"/>
          <p:cNvCxnSpPr/>
          <p:nvPr/>
        </p:nvCxnSpPr>
        <p:spPr>
          <a:xfrm>
            <a:off x="6004407" y="2377440"/>
            <a:ext cx="146304"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187287" y="1920240"/>
            <a:ext cx="141732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33007" y="2103120"/>
            <a:ext cx="1325880" cy="502920"/>
          </a:xfrm>
          <a:prstGeom prst="rect">
            <a:avLst/>
          </a:prstGeom>
          <a:noFill/>
        </p:spPr>
        <p:txBody>
          <a:bodyPr wrap="square">
            <a:spAutoFit/>
          </a:bodyPr>
          <a:lstStyle/>
          <a:p>
            <a:pPr algn="ctr"/>
            <a:r>
              <a:rPr sz="1400" b="1">
                <a:solidFill>
                  <a:srgbClr val="191919"/>
                </a:solidFill>
                <a:latin typeface="Arial"/>
              </a:rPr>
              <a:t>Ask question</a:t>
            </a:r>
          </a:p>
        </p:txBody>
      </p:sp>
      <p:cxnSp>
        <p:nvCxnSpPr>
          <p:cNvPr id="14" name="Connector 13"/>
          <p:cNvCxnSpPr/>
          <p:nvPr/>
        </p:nvCxnSpPr>
        <p:spPr>
          <a:xfrm>
            <a:off x="7604607" y="2377440"/>
            <a:ext cx="146304"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787487" y="1920240"/>
            <a:ext cx="141732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33207" y="2103120"/>
            <a:ext cx="1325880" cy="502920"/>
          </a:xfrm>
          <a:prstGeom prst="rect">
            <a:avLst/>
          </a:prstGeom>
          <a:noFill/>
        </p:spPr>
        <p:txBody>
          <a:bodyPr wrap="square">
            <a:spAutoFit/>
          </a:bodyPr>
          <a:lstStyle/>
          <a:p>
            <a:pPr algn="ctr"/>
            <a:r>
              <a:rPr sz="1400" b="1">
                <a:solidFill>
                  <a:srgbClr val="191919"/>
                </a:solidFill>
                <a:latin typeface="Arial"/>
              </a:rPr>
              <a:t>Receive answer</a:t>
            </a:r>
          </a:p>
        </p:txBody>
      </p:sp>
      <p:cxnSp>
        <p:nvCxnSpPr>
          <p:cNvPr id="17" name="Connector 16"/>
          <p:cNvCxnSpPr/>
          <p:nvPr/>
        </p:nvCxnSpPr>
        <p:spPr>
          <a:xfrm>
            <a:off x="9204807" y="2377440"/>
            <a:ext cx="146304" cy="0"/>
          </a:xfrm>
          <a:prstGeom prst="line">
            <a:avLst/>
          </a:prstGeom>
          <a:ln w="25400">
            <a:solidFill>
              <a:srgbClr val="285AA0"/>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9387687" y="1920240"/>
            <a:ext cx="1417320" cy="914400"/>
          </a:xfrm>
          <a:prstGeom prst="rect">
            <a:avLst/>
          </a:prstGeom>
          <a:solidFill>
            <a:srgbClr val="FFFFFF"/>
          </a:solidFill>
          <a:ln>
            <a:solidFill>
              <a:srgbClr val="28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33407" y="2103120"/>
            <a:ext cx="1325880" cy="502920"/>
          </a:xfrm>
          <a:prstGeom prst="rect">
            <a:avLst/>
          </a:prstGeom>
          <a:noFill/>
        </p:spPr>
        <p:txBody>
          <a:bodyPr wrap="square">
            <a:spAutoFit/>
          </a:bodyPr>
          <a:lstStyle/>
          <a:p>
            <a:pPr algn="ctr"/>
            <a:r>
              <a:rPr sz="1400" b="1">
                <a:solidFill>
                  <a:srgbClr val="191919"/>
                </a:solidFill>
                <a:latin typeface="Arial"/>
              </a:rPr>
              <a:t>View source/page</a:t>
            </a:r>
          </a:p>
        </p:txBody>
      </p:sp>
      <p:sp>
        <p:nvSpPr>
          <p:cNvPr id="20" name="TextBox 19"/>
          <p:cNvSpPr txBox="1"/>
          <p:nvPr/>
        </p:nvSpPr>
        <p:spPr>
          <a:xfrm>
            <a:off x="700887" y="3222523"/>
            <a:ext cx="10515600" cy="2516073"/>
          </a:xfrm>
          <a:prstGeom prst="rect">
            <a:avLst/>
          </a:prstGeom>
          <a:noFill/>
        </p:spPr>
        <p:txBody>
          <a:bodyPr wrap="square">
            <a:spAutoFit/>
          </a:bodyPr>
          <a:lstStyle/>
          <a:p>
            <a:pPr>
              <a:spcAft>
                <a:spcPts val="900"/>
              </a:spcAft>
              <a:defRPr sz="1700">
                <a:solidFill>
                  <a:srgbClr val="191919"/>
                </a:solidFill>
                <a:latin typeface="Arial"/>
              </a:defRPr>
            </a:pPr>
            <a:r>
              <a:rPr sz="2000" dirty="0"/>
              <a:t>• Document upload interface</a:t>
            </a:r>
          </a:p>
          <a:p>
            <a:pPr>
              <a:spcAft>
                <a:spcPts val="900"/>
              </a:spcAft>
              <a:defRPr sz="1700">
                <a:solidFill>
                  <a:srgbClr val="191919"/>
                </a:solidFill>
                <a:latin typeface="Arial"/>
              </a:defRPr>
            </a:pPr>
            <a:r>
              <a:rPr sz="2000" dirty="0"/>
              <a:t>• Document management/view</a:t>
            </a:r>
          </a:p>
          <a:p>
            <a:pPr>
              <a:spcAft>
                <a:spcPts val="900"/>
              </a:spcAft>
              <a:defRPr sz="1700">
                <a:solidFill>
                  <a:srgbClr val="191919"/>
                </a:solidFill>
                <a:latin typeface="Arial"/>
              </a:defRPr>
            </a:pPr>
            <a:r>
              <a:rPr sz="2000" dirty="0"/>
              <a:t>• AI assistant/chat interface</a:t>
            </a:r>
          </a:p>
          <a:p>
            <a:pPr>
              <a:spcAft>
                <a:spcPts val="900"/>
              </a:spcAft>
              <a:defRPr sz="1700">
                <a:solidFill>
                  <a:srgbClr val="191919"/>
                </a:solidFill>
                <a:latin typeface="Arial"/>
              </a:defRPr>
            </a:pPr>
            <a:r>
              <a:rPr sz="2000" dirty="0"/>
              <a:t>• Citation/source display</a:t>
            </a:r>
          </a:p>
          <a:p>
            <a:pPr>
              <a:spcAft>
                <a:spcPts val="900"/>
              </a:spcAft>
              <a:defRPr sz="1700">
                <a:solidFill>
                  <a:srgbClr val="191919"/>
                </a:solidFill>
                <a:latin typeface="Arial"/>
              </a:defRPr>
            </a:pPr>
            <a:r>
              <a:rPr sz="2000" dirty="0"/>
              <a:t>• Reports interface</a:t>
            </a:r>
          </a:p>
          <a:p>
            <a:pPr>
              <a:spcAft>
                <a:spcPts val="900"/>
              </a:spcAft>
              <a:defRPr sz="1700">
                <a:solidFill>
                  <a:srgbClr val="191919"/>
                </a:solidFill>
                <a:latin typeface="Arial"/>
              </a:defRPr>
            </a:pPr>
            <a:r>
              <a:rPr sz="2000" dirty="0"/>
              <a:t>• Frontend communicates with the </a:t>
            </a:r>
            <a:r>
              <a:rPr sz="2000" dirty="0" err="1"/>
              <a:t>FastAPI</a:t>
            </a:r>
            <a:r>
              <a:rPr sz="2000" dirty="0"/>
              <a:t> backend through API calls.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0972800" cy="457200"/>
          </a:xfrm>
          <a:prstGeom prst="rect">
            <a:avLst/>
          </a:prstGeom>
          <a:noFill/>
        </p:spPr>
        <p:txBody>
          <a:bodyPr wrap="square">
            <a:spAutoFit/>
          </a:bodyPr>
          <a:lstStyle/>
          <a:p>
            <a:pPr algn="l"/>
            <a:r>
              <a:rPr sz="2800" b="1">
                <a:solidFill>
                  <a:srgbClr val="191919"/>
                </a:solidFill>
                <a:latin typeface="Arial"/>
              </a:rPr>
              <a:t>Testing and Results</a:t>
            </a:r>
          </a:p>
        </p:txBody>
      </p:sp>
      <p:sp>
        <p:nvSpPr>
          <p:cNvPr id="3" name="TextBox 2"/>
          <p:cNvSpPr txBox="1"/>
          <p:nvPr/>
        </p:nvSpPr>
        <p:spPr>
          <a:xfrm>
            <a:off x="594360" y="1143000"/>
            <a:ext cx="10972800" cy="4285789"/>
          </a:xfrm>
          <a:prstGeom prst="rect">
            <a:avLst/>
          </a:prstGeom>
          <a:noFill/>
        </p:spPr>
        <p:txBody>
          <a:bodyPr wrap="square">
            <a:spAutoFit/>
          </a:bodyPr>
          <a:lstStyle/>
          <a:p>
            <a:pPr>
              <a:spcAft>
                <a:spcPts val="900"/>
              </a:spcAft>
              <a:defRPr sz="1400">
                <a:solidFill>
                  <a:srgbClr val="191919"/>
                </a:solidFill>
                <a:latin typeface="Arial"/>
              </a:defRPr>
            </a:pPr>
            <a:r>
              <a:rPr sz="2000" dirty="0"/>
              <a:t>• TEST 1 — PDF extraction → Successfully extracted text from enterprise policy PDF.</a:t>
            </a:r>
          </a:p>
          <a:p>
            <a:pPr>
              <a:spcAft>
                <a:spcPts val="900"/>
              </a:spcAft>
              <a:defRPr sz="1400">
                <a:solidFill>
                  <a:srgbClr val="191919"/>
                </a:solidFill>
                <a:latin typeface="Arial"/>
              </a:defRPr>
            </a:pPr>
            <a:r>
              <a:rPr sz="2000" dirty="0"/>
              <a:t>• TEST 2 — Chunking → Sample PDF produced 3 chunks.</a:t>
            </a:r>
          </a:p>
          <a:p>
            <a:pPr>
              <a:spcAft>
                <a:spcPts val="900"/>
              </a:spcAft>
              <a:defRPr sz="1400">
                <a:solidFill>
                  <a:srgbClr val="191919"/>
                </a:solidFill>
                <a:latin typeface="Arial"/>
              </a:defRPr>
            </a:pPr>
            <a:r>
              <a:rPr sz="2000" dirty="0"/>
              <a:t>• TEST 3 — Embeddings → Sentence Transformer successfully generated embeddings.</a:t>
            </a:r>
          </a:p>
          <a:p>
            <a:pPr>
              <a:spcAft>
                <a:spcPts val="900"/>
              </a:spcAft>
              <a:defRPr sz="1400">
                <a:solidFill>
                  <a:srgbClr val="191919"/>
                </a:solidFill>
                <a:latin typeface="Arial"/>
              </a:defRPr>
            </a:pPr>
            <a:r>
              <a:rPr sz="2000" dirty="0"/>
              <a:t>• TEST 4 — Vector search → FAISS successfully retrieved relevant chunks.</a:t>
            </a:r>
          </a:p>
          <a:p>
            <a:pPr>
              <a:spcAft>
                <a:spcPts val="900"/>
              </a:spcAft>
              <a:defRPr sz="1400">
                <a:solidFill>
                  <a:srgbClr val="191919"/>
                </a:solidFill>
                <a:latin typeface="Arial"/>
              </a:defRPr>
            </a:pPr>
            <a:r>
              <a:rPr sz="2000" dirty="0"/>
              <a:t>• TEST 5 — Semantic retrieval → "What is the leave policy?" retrieved the relevant Leave Policy section from page 2.</a:t>
            </a:r>
          </a:p>
          <a:p>
            <a:pPr>
              <a:spcAft>
                <a:spcPts val="900"/>
              </a:spcAft>
              <a:defRPr sz="1400">
                <a:solidFill>
                  <a:srgbClr val="191919"/>
                </a:solidFill>
                <a:latin typeface="Arial"/>
              </a:defRPr>
            </a:pPr>
            <a:r>
              <a:rPr sz="2000" dirty="0"/>
              <a:t>• TEST 6 — Multiple documents → Two sample PDFs were indexed; retrieval returned results from both documents.</a:t>
            </a:r>
          </a:p>
          <a:p>
            <a:pPr>
              <a:spcAft>
                <a:spcPts val="900"/>
              </a:spcAft>
              <a:defRPr sz="1400">
                <a:solidFill>
                  <a:srgbClr val="191919"/>
                </a:solidFill>
                <a:latin typeface="Arial"/>
              </a:defRPr>
            </a:pPr>
            <a:r>
              <a:rPr sz="2000" dirty="0"/>
              <a:t>• TEST 7 — Backend integration → PDF upload returned status: success; </a:t>
            </a:r>
            <a:r>
              <a:rPr sz="2000" dirty="0" err="1"/>
              <a:t>chunks_added</a:t>
            </a:r>
            <a:r>
              <a:rPr sz="2000" dirty="0"/>
              <a:t>: 3; document/page source information was returned.</a:t>
            </a:r>
          </a:p>
          <a:p>
            <a:pPr>
              <a:spcAft>
                <a:spcPts val="900"/>
              </a:spcAft>
              <a:defRPr sz="1400">
                <a:solidFill>
                  <a:srgbClr val="191919"/>
                </a:solidFill>
                <a:latin typeface="Arial"/>
              </a:defRPr>
            </a:pPr>
            <a:r>
              <a:rPr sz="2000" dirty="0"/>
              <a:t>• Note → No accuracy percentage is claimed.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0972800" cy="457200"/>
          </a:xfrm>
          <a:prstGeom prst="rect">
            <a:avLst/>
          </a:prstGeom>
          <a:noFill/>
        </p:spPr>
        <p:txBody>
          <a:bodyPr wrap="square">
            <a:spAutoFit/>
          </a:bodyPr>
          <a:lstStyle/>
          <a:p>
            <a:pPr algn="l"/>
            <a:r>
              <a:rPr sz="2800" b="1">
                <a:solidFill>
                  <a:srgbClr val="191919"/>
                </a:solidFill>
                <a:latin typeface="Arial"/>
              </a:rPr>
              <a:t>Advantages, Limitations and Future Scope</a:t>
            </a:r>
          </a:p>
        </p:txBody>
      </p:sp>
      <p:sp>
        <p:nvSpPr>
          <p:cNvPr id="3" name="TextBox 2"/>
          <p:cNvSpPr txBox="1"/>
          <p:nvPr/>
        </p:nvSpPr>
        <p:spPr>
          <a:xfrm>
            <a:off x="640080" y="1325880"/>
            <a:ext cx="10881360" cy="4555093"/>
          </a:xfrm>
          <a:prstGeom prst="rect">
            <a:avLst/>
          </a:prstGeom>
          <a:noFill/>
        </p:spPr>
        <p:txBody>
          <a:bodyPr wrap="square">
            <a:spAutoFit/>
          </a:bodyPr>
          <a:lstStyle/>
          <a:p>
            <a:pPr>
              <a:spcAft>
                <a:spcPts val="900"/>
              </a:spcAft>
              <a:defRPr sz="1500">
                <a:solidFill>
                  <a:srgbClr val="191919"/>
                </a:solidFill>
                <a:latin typeface="Arial"/>
              </a:defRPr>
            </a:pPr>
            <a:r>
              <a:rPr sz="2000" dirty="0"/>
              <a:t>• ADVANTAGES → Natural-language document search; semantic retrieval; answers grounded in uploaded documents; source/page traceability; modular architecture; multiple uploaded documents; separated frontend/backend/ML responsibilities.</a:t>
            </a:r>
            <a:endParaRPr lang="en-IN" sz="2000" dirty="0"/>
          </a:p>
          <a:p>
            <a:pPr>
              <a:spcAft>
                <a:spcPts val="900"/>
              </a:spcAft>
              <a:defRPr sz="1500">
                <a:solidFill>
                  <a:srgbClr val="191919"/>
                </a:solidFill>
                <a:latin typeface="Arial"/>
              </a:defRPr>
            </a:pPr>
            <a:endParaRPr sz="2000" dirty="0"/>
          </a:p>
          <a:p>
            <a:pPr>
              <a:spcAft>
                <a:spcPts val="900"/>
              </a:spcAft>
              <a:defRPr sz="1500">
                <a:solidFill>
                  <a:srgbClr val="191919"/>
                </a:solidFill>
                <a:latin typeface="Arial"/>
              </a:defRPr>
            </a:pPr>
            <a:r>
              <a:rPr sz="2000" dirty="0"/>
              <a:t>• CURRENT LIMITATIONS → Vector store is maintained in memory; knowledge can be lost when backend restarts unless documents are re-ingested; LLM responses depend on configured API availability and account quota; prototype is primarily focused on PDF-based enterprise knowledge.</a:t>
            </a:r>
            <a:endParaRPr lang="en-IN" sz="2000" dirty="0"/>
          </a:p>
          <a:p>
            <a:pPr>
              <a:spcAft>
                <a:spcPts val="900"/>
              </a:spcAft>
              <a:defRPr sz="1500">
                <a:solidFill>
                  <a:srgbClr val="191919"/>
                </a:solidFill>
                <a:latin typeface="Arial"/>
              </a:defRPr>
            </a:pPr>
            <a:endParaRPr sz="2000" dirty="0"/>
          </a:p>
          <a:p>
            <a:pPr>
              <a:spcAft>
                <a:spcPts val="900"/>
              </a:spcAft>
              <a:defRPr sz="1500">
                <a:solidFill>
                  <a:srgbClr val="191919"/>
                </a:solidFill>
                <a:latin typeface="Arial"/>
              </a:defRPr>
            </a:pPr>
            <a:r>
              <a:rPr sz="2000" dirty="0"/>
              <a:t>• FUTURE SCOPE → Persistent vector database; authentication and role-based access; enterprise document permissions; more document formats; conversation memory; advanced report generation; retrieval and answer evaluation metrics; local/private LLM deployment; cloud deployment and scalability.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0972800" cy="457200"/>
          </a:xfrm>
          <a:prstGeom prst="rect">
            <a:avLst/>
          </a:prstGeom>
          <a:noFill/>
        </p:spPr>
        <p:txBody>
          <a:bodyPr wrap="square">
            <a:spAutoFit/>
          </a:bodyPr>
          <a:lstStyle/>
          <a:p>
            <a:pPr algn="l"/>
            <a:r>
              <a:rPr sz="2800" b="1">
                <a:solidFill>
                  <a:srgbClr val="191919"/>
                </a:solidFill>
                <a:latin typeface="Arial"/>
              </a:rPr>
              <a:t>Conclusion &amp; Demonstration</a:t>
            </a:r>
          </a:p>
        </p:txBody>
      </p:sp>
      <p:sp>
        <p:nvSpPr>
          <p:cNvPr id="3" name="TextBox 2"/>
          <p:cNvSpPr txBox="1"/>
          <p:nvPr/>
        </p:nvSpPr>
        <p:spPr>
          <a:xfrm>
            <a:off x="609600" y="990637"/>
            <a:ext cx="10972800" cy="4478149"/>
          </a:xfrm>
          <a:prstGeom prst="rect">
            <a:avLst/>
          </a:prstGeom>
          <a:noFill/>
        </p:spPr>
        <p:txBody>
          <a:bodyPr wrap="square">
            <a:spAutoFit/>
          </a:bodyPr>
          <a:lstStyle/>
          <a:p>
            <a:pPr>
              <a:spcAft>
                <a:spcPts val="900"/>
              </a:spcAft>
              <a:defRPr sz="1400">
                <a:solidFill>
                  <a:srgbClr val="191919"/>
                </a:solidFill>
                <a:latin typeface="Arial"/>
              </a:defRPr>
            </a:pPr>
            <a:r>
              <a:rPr sz="2000" dirty="0"/>
              <a:t>• Developed an end-to-end enterprise document intelligence prototype.</a:t>
            </a:r>
          </a:p>
          <a:p>
            <a:pPr>
              <a:spcAft>
                <a:spcPts val="900"/>
              </a:spcAft>
              <a:defRPr sz="1400">
                <a:solidFill>
                  <a:srgbClr val="191919"/>
                </a:solidFill>
                <a:latin typeface="Arial"/>
              </a:defRPr>
            </a:pPr>
            <a:r>
              <a:rPr sz="2000" dirty="0"/>
              <a:t>•</a:t>
            </a:r>
            <a:r>
              <a:rPr lang="en-IN" sz="2000" dirty="0"/>
              <a:t> </a:t>
            </a:r>
            <a:r>
              <a:rPr sz="2000" dirty="0"/>
              <a:t>Combines document processing, semantic embeddings, vector search, RAG, and LLM generation.</a:t>
            </a:r>
          </a:p>
          <a:p>
            <a:pPr>
              <a:spcAft>
                <a:spcPts val="900"/>
              </a:spcAft>
              <a:defRPr sz="1400">
                <a:solidFill>
                  <a:srgbClr val="191919"/>
                </a:solidFill>
                <a:latin typeface="Arial"/>
              </a:defRPr>
            </a:pPr>
            <a:r>
              <a:rPr sz="2000" dirty="0"/>
              <a:t>• </a:t>
            </a:r>
            <a:r>
              <a:rPr sz="2000" dirty="0" err="1"/>
              <a:t>FastAPI</a:t>
            </a:r>
            <a:r>
              <a:rPr sz="2000" dirty="0"/>
              <a:t> connects the ML pipeline with the application layer.</a:t>
            </a:r>
          </a:p>
          <a:p>
            <a:pPr>
              <a:spcAft>
                <a:spcPts val="900"/>
              </a:spcAft>
              <a:defRPr sz="1400">
                <a:solidFill>
                  <a:srgbClr val="191919"/>
                </a:solidFill>
                <a:latin typeface="Arial"/>
              </a:defRPr>
            </a:pPr>
            <a:r>
              <a:rPr sz="2000" dirty="0"/>
              <a:t>• Users can upload documents and ask natural-language questions.</a:t>
            </a:r>
          </a:p>
          <a:p>
            <a:pPr>
              <a:spcAft>
                <a:spcPts val="900"/>
              </a:spcAft>
              <a:defRPr sz="1400">
                <a:solidFill>
                  <a:srgbClr val="191919"/>
                </a:solidFill>
                <a:latin typeface="Arial"/>
              </a:defRPr>
            </a:pPr>
            <a:r>
              <a:rPr sz="2000" dirty="0"/>
              <a:t>• Retrieved sources provide traceability to the original document.</a:t>
            </a:r>
          </a:p>
          <a:p>
            <a:pPr>
              <a:spcAft>
                <a:spcPts val="900"/>
              </a:spcAft>
              <a:defRPr sz="1400">
                <a:solidFill>
                  <a:srgbClr val="191919"/>
                </a:solidFill>
                <a:latin typeface="Arial"/>
              </a:defRPr>
            </a:pPr>
            <a:r>
              <a:rPr sz="2000" dirty="0"/>
              <a:t>• Modular design allows future improvements in storage, security, scalability, and model selection.</a:t>
            </a:r>
          </a:p>
          <a:p>
            <a:pPr>
              <a:spcAft>
                <a:spcPts val="900"/>
              </a:spcAft>
              <a:defRPr sz="1400">
                <a:solidFill>
                  <a:srgbClr val="191919"/>
                </a:solidFill>
                <a:latin typeface="Arial"/>
              </a:defRPr>
            </a:pPr>
            <a:r>
              <a:rPr sz="2000" dirty="0"/>
              <a:t>• DEMO FLOW → Open application → Upload enterprise policy PDF → Show successful processing → Ask: "What is the leave policy?" → Show generated answer → Show source document/page → Upload another PDF → Ask a second-document question → Demonstrate retrieval from multiple documents.</a:t>
            </a:r>
          </a:p>
        </p:txBody>
      </p:sp>
      <p:sp>
        <p:nvSpPr>
          <p:cNvPr id="4" name="TextBox 3"/>
          <p:cNvSpPr txBox="1"/>
          <p:nvPr/>
        </p:nvSpPr>
        <p:spPr>
          <a:xfrm>
            <a:off x="3672840" y="5896895"/>
            <a:ext cx="4846320" cy="707886"/>
          </a:xfrm>
          <a:prstGeom prst="rect">
            <a:avLst/>
          </a:prstGeom>
          <a:noFill/>
        </p:spPr>
        <p:txBody>
          <a:bodyPr wrap="square">
            <a:spAutoFit/>
          </a:bodyPr>
          <a:lstStyle/>
          <a:p>
            <a:pPr algn="ctr"/>
            <a:r>
              <a:rPr sz="1600" b="1" dirty="0">
                <a:solidFill>
                  <a:srgbClr val="285AA0"/>
                </a:solidFill>
                <a:latin typeface="Arial"/>
              </a:rPr>
              <a:t>THANK </a:t>
            </a:r>
            <a:r>
              <a:rPr sz="4000" b="1" dirty="0">
                <a:solidFill>
                  <a:srgbClr val="285AA0"/>
                </a:solidFill>
                <a:latin typeface="Arial"/>
              </a:rPr>
              <a:t>YOU</a:t>
            </a:r>
            <a:r>
              <a:rPr sz="1600" b="1" dirty="0">
                <a:solidFill>
                  <a:srgbClr val="285AA0"/>
                </a:solidFill>
                <a:latin typeface="Arial"/>
              </a:rPr>
              <a:t>  </a:t>
            </a:r>
            <a:r>
              <a:rPr lang="en-IN" sz="1600" b="1" dirty="0">
                <a:solidFill>
                  <a:srgbClr val="285AA0"/>
                </a:solidFill>
                <a:latin typeface="Arial"/>
              </a:rPr>
              <a:t>||</a:t>
            </a:r>
            <a:endParaRPr sz="1600" b="1" dirty="0">
              <a:solidFill>
                <a:srgbClr val="285AA0"/>
              </a:solidFill>
              <a:latin typeface="Arial"/>
            </a:endParaRP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15</TotalTime>
  <Words>1915</Words>
  <Application>Microsoft Office PowerPoint</Application>
  <PresentationFormat>Widescreen</PresentationFormat>
  <Paragraphs>168</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Gill Sans MT</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TOTA SAI MANOJ PATEL</dc:creator>
  <cp:keywords/>
  <dc:description>generated using python-pptx</dc:description>
  <cp:lastModifiedBy>shanker reddy</cp:lastModifiedBy>
  <cp:revision>3</cp:revision>
  <dcterms:created xsi:type="dcterms:W3CDTF">2013-01-27T09:14:16Z</dcterms:created>
  <dcterms:modified xsi:type="dcterms:W3CDTF">2026-10-01T06:32:13Z</dcterms:modified>
  <cp:category/>
</cp:coreProperties>
</file>